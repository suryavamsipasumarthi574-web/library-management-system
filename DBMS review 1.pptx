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69" r:id="rId2"/>
    <p:sldId id="257" r:id="rId3"/>
    <p:sldId id="270" r:id="rId4"/>
    <p:sldId id="258" r:id="rId5"/>
    <p:sldId id="259" r:id="rId6"/>
    <p:sldId id="283" r:id="rId7"/>
    <p:sldId id="261" r:id="rId8"/>
    <p:sldId id="277" r:id="rId9"/>
    <p:sldId id="262" r:id="rId10"/>
    <p:sldId id="279" r:id="rId11"/>
    <p:sldId id="268" r:id="rId12"/>
    <p:sldId id="281" r:id="rId13"/>
    <p:sldId id="267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19A046-60D8-4238-BF51-8C6069F617A3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2C8A66-69BF-4F14-9280-1D46BD976515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" name="Google Shape;3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96000" y="392965"/>
            <a:ext cx="10800000" cy="705600"/>
          </a:xfrm>
        </p:spPr>
        <p:txBody>
          <a:bodyPr wrap="square">
            <a:normAutofit/>
          </a:bodyPr>
          <a:lstStyle>
            <a:lvl1pPr algn="ctr">
              <a:defRPr sz="3200">
                <a:solidFill>
                  <a:srgbClr val="33333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"/>
          <p:cNvSpPr txBox="1"/>
          <p:nvPr/>
        </p:nvSpPr>
        <p:spPr>
          <a:xfrm>
            <a:off x="1040202" y="935443"/>
            <a:ext cx="10696612" cy="194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0" i="0" u="none" strike="noStrike" cap="none" dirty="0">
              <a:solidFill>
                <a:srgbClr val="00B050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510209" y="3399642"/>
            <a:ext cx="5313719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25B11AI401-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HARIJANA VAMSI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1800" dirty="0">
                <a:latin typeface="Times New Roman" panose="02020603050405020304" pitchFamily="18" charset="0"/>
                <a:ea typeface="Glegoo"/>
                <a:cs typeface="Times New Roman" panose="02020603050405020304" pitchFamily="18" charset="0"/>
                <a:sym typeface="Glegoo"/>
              </a:rPr>
              <a:t>25B11AI905- </a:t>
            </a:r>
            <a:r>
              <a:rPr lang="en-US" altLang="en-US" sz="1800" dirty="0">
                <a:latin typeface="Times New Roman" panose="02020603050405020304" pitchFamily="18" charset="0"/>
                <a:ea typeface="Glegoo"/>
                <a:cs typeface="Times New Roman" panose="02020603050405020304" pitchFamily="18" charset="0"/>
                <a:sym typeface="Glegoo"/>
              </a:rPr>
              <a:t>PASUMARTHI SURYA VAMSI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510209" y="-133157"/>
            <a:ext cx="11171582" cy="981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 Management System</a:t>
            </a:r>
          </a:p>
        </p:txBody>
      </p:sp>
      <p:sp>
        <p:nvSpPr>
          <p:cNvPr id="39" name="Google Shape;39;p1"/>
          <p:cNvSpPr/>
          <p:nvPr/>
        </p:nvSpPr>
        <p:spPr>
          <a:xfrm>
            <a:off x="3417317" y="5183913"/>
            <a:ext cx="5509546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Under esteemed guidance of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8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Dr P Kishorekumar</a:t>
            </a:r>
            <a:r>
              <a:rPr lang="en-US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algn="ctr"/>
            <a:r>
              <a:rPr lang="en-US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Department of AIML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Aditya University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40" name="Google Shape;40;p1"/>
          <p:cNvSpPr txBox="1"/>
          <p:nvPr/>
        </p:nvSpPr>
        <p:spPr>
          <a:xfrm>
            <a:off x="3048719" y="1822401"/>
            <a:ext cx="6094562" cy="64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C55A1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BATCH NUMBER:17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rgbClr val="C55A1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3746" y="3338423"/>
            <a:ext cx="5672297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25B21AIC24     -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UNNAM NAGARJUNA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25B21AI054     -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ARABOLU RAMBABU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38;p1"/>
          <p:cNvSpPr txBox="1"/>
          <p:nvPr/>
        </p:nvSpPr>
        <p:spPr>
          <a:xfrm>
            <a:off x="747694" y="707054"/>
            <a:ext cx="10696612" cy="981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Capstone Project review -1</a:t>
            </a:r>
            <a:endParaRPr lang="en-US" sz="2400" b="1" i="0" u="none" strike="noStrike" cap="none" dirty="0">
              <a:solidFill>
                <a:srgbClr val="00B050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16086" y="2647223"/>
            <a:ext cx="1759827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Presented by: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48719" y="4547312"/>
            <a:ext cx="62467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Academic Year: 2026-2027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34203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3D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707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US" alt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 and Attributes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 and Cardinality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Database Schema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Responsibilities and GitHub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 b="0">
                <a:solidFill>
                  <a:srgbClr val="232323"/>
                </a:solidFill>
                <a:latin typeface="Aptos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72654" y="6473952"/>
            <a:ext cx="24878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4005"/>
            <a:ext cx="10972800" cy="7848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1.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3D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427152"/>
            <a:ext cx="10515600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  <a:latin typeface="Aptos"/>
              </a:defRPr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  <a:latin typeface="Aptos"/>
              </a:defRPr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library contains information about books, authors, categories, members, and issue-return records.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  <a:latin typeface="Aptos"/>
              </a:defRPr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these records manually is time-consuming and may cause duplication and errors.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  <a:latin typeface="Aptos"/>
              </a:defRPr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Library Management System organizes this information using a relational database.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  <a:latin typeface="Aptos"/>
              </a:defRPr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makes library data easy to store, manage, and retrieve.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7844" y="6473952"/>
            <a:ext cx="25359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rPr lang="en-US" dirty="0"/>
              <a:t>3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50121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2.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3D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1316990"/>
            <a:ext cx="10515600" cy="4382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defRPr sz="2000" b="0">
                <a:solidFill>
                  <a:srgbClr val="232323"/>
                </a:solidFill>
                <a:latin typeface="Aptos"/>
              </a:defRPr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information about a particular book or member can be difficult and time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consuming.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 b="0">
                <a:solidFill>
                  <a:srgbClr val="232323"/>
                </a:solidFill>
                <a:latin typeface="Aptos"/>
              </a:defRPr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Tracking issued, returned, and available books manually is difficult.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 b="0">
                <a:solidFill>
                  <a:srgbClr val="232323"/>
                </a:solidFill>
                <a:latin typeface="Aptos"/>
              </a:defRPr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Maintaining fine and transaction details accurately can be challenging.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 b="0">
                <a:solidFill>
                  <a:srgbClr val="232323"/>
                </a:solidFill>
                <a:latin typeface="Aptos"/>
              </a:defRPr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If book, author, category, and member records are maintained separately, the same information may be stored multiple times, resulting in data duplication.”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 b="0">
                <a:solidFill>
                  <a:srgbClr val="232323"/>
                </a:solidFill>
                <a:latin typeface="Aptos"/>
              </a:defRPr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project aims to design a relational database system that connects library records through well-defined entities, relationships, primary keys, and foreign keys.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 b="0">
                <a:solidFill>
                  <a:srgbClr val="232323"/>
                </a:solidFill>
                <a:latin typeface="Aptos"/>
              </a:defRPr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72653" y="6473952"/>
            <a:ext cx="24878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15796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3.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3D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3322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defRPr sz="1900" b="0">
                <a:solidFill>
                  <a:srgbClr val="232323"/>
                </a:solidFill>
                <a:latin typeface="Aptos"/>
              </a:defRPr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major entities involved in library management.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900" b="0">
                <a:solidFill>
                  <a:srgbClr val="232323"/>
                </a:solidFill>
                <a:latin typeface="Aptos"/>
              </a:defRPr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suitable attributes for each entity.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900" b="0">
                <a:solidFill>
                  <a:srgbClr val="232323"/>
                </a:solidFill>
                <a:latin typeface="Aptos"/>
              </a:defRPr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 relationships between the identified entities.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900" b="0">
                <a:solidFill>
                  <a:srgbClr val="232323"/>
                </a:solidFill>
                <a:latin typeface="Aptos"/>
              </a:defRPr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 Entity–Relationship (ER) diagram.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900" b="0">
                <a:solidFill>
                  <a:srgbClr val="232323"/>
                </a:solidFill>
                <a:latin typeface="Aptos"/>
              </a:defRPr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the ER model into a relational database schema.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900" b="0">
                <a:solidFill>
                  <a:srgbClr val="232323"/>
                </a:solidFill>
                <a:latin typeface="Aptos"/>
              </a:defRPr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appropriate Primary Keys and Foreign Keys to establish connections between tables.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2653" y="6483784"/>
            <a:ext cx="24878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D8B1E6-C0FC-9296-B67D-848C76C50798}"/>
              </a:ext>
            </a:extLst>
          </p:cNvPr>
          <p:cNvSpPr txBox="1"/>
          <p:nvPr/>
        </p:nvSpPr>
        <p:spPr>
          <a:xfrm>
            <a:off x="11395587" y="6508955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2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03770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Entities and Attributes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330411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  <a:latin typeface="Aptos"/>
              </a:defRPr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entities identified for the proposed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54318"/>
            <a:ext cx="10972800" cy="32004"/>
          </a:xfrm>
          <a:prstGeom prst="rect">
            <a:avLst/>
          </a:prstGeom>
          <a:solidFill>
            <a:srgbClr val="3D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6085" y="1371600"/>
          <a:ext cx="11162030" cy="447560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665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0885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400" dirty="0">
                          <a:latin typeface="+mn-lt"/>
                        </a:rPr>
                        <a:t>Entity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+mn-lt"/>
                        </a:rPr>
                        <a:t>Key attributes</a:t>
                      </a:r>
                    </a:p>
                  </a:txBody>
                  <a:tcPr marL="73152" marR="45720" marT="36576" marB="365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803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US" altLang="en-US" sz="1600" dirty="0">
                          <a:sym typeface="+mn-ea"/>
                        </a:rPr>
                        <a:t>Book</a:t>
                      </a:r>
                      <a:endParaRPr lang="en-US" altLang="en-US" sz="1600" dirty="0">
                        <a:latin typeface="+mn-lt"/>
                        <a:sym typeface="+mn-ea"/>
                      </a:endParaRP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US" altLang="en-US" sz="1600">
                          <a:latin typeface="+mn-lt"/>
                        </a:rPr>
                        <a:t>Book_ID (PK), Book_Name, ISBN, Quantity, Available_Count, Author_ID (FK), Publisher_ID (FK), Category_ID (FK), Supplier_ID(FK)</a:t>
                      </a:r>
                    </a:p>
                  </a:txBody>
                  <a:tcPr marL="73152" marR="45720" marT="36576" marB="365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l"/>
                      <a:r>
                        <a:rPr lang="en-US" altLang="en-US" sz="1800"/>
                        <a:t>Member</a:t>
                      </a:r>
                      <a:endParaRPr lang="en-US" altLang="en-US" sz="1800" dirty="0">
                        <a:latin typeface="+mn-lt"/>
                        <a:sym typeface="+mn-e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US" altLang="en-US" sz="1600">
                          <a:latin typeface="+mn-lt"/>
                        </a:rPr>
                        <a:t>Member_ID (PK), Member_Name, Department, Email, Phone, Membership_Date</a:t>
                      </a:r>
                    </a:p>
                  </a:txBody>
                  <a:tcPr marL="73152" marR="45720" marT="36576" marB="365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0885">
                <a:tc>
                  <a:txBody>
                    <a:bodyPr/>
                    <a:lstStyle/>
                    <a:p>
                      <a:r>
                        <a:rPr lang="en-US" sz="1600"/>
                        <a:t>Author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US" altLang="en-US" sz="1600">
                          <a:latin typeface="+mn-lt"/>
                        </a:rPr>
                        <a:t>Author_ID (PK), Author_Name, Email, Phone</a:t>
                      </a:r>
                    </a:p>
                  </a:txBody>
                  <a:tcPr marL="73152" marR="45720" marT="36576" marB="365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0885">
                <a:tc>
                  <a:txBody>
                    <a:bodyPr/>
                    <a:lstStyle/>
                    <a:p>
                      <a:r>
                        <a:rPr lang="en-US" sz="1600"/>
                        <a:t> Category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US" altLang="en-US" sz="1600">
                          <a:latin typeface="+mn-lt"/>
                        </a:rPr>
                        <a:t>Category_ID (PK), Category_Name, Description</a:t>
                      </a:r>
                    </a:p>
                  </a:txBody>
                  <a:tcPr marL="73152" marR="45720" marT="36576" marB="365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US" altLang="en-US" sz="1600" dirty="0">
                          <a:latin typeface="+mn-lt"/>
                        </a:rPr>
                        <a:t>Publisher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   </a:t>
                      </a:r>
                      <a:r>
                        <a:rPr lang="en-US" sz="1600"/>
                        <a:t> Publisher_ID(PK), Publisher_Name, Email, Phone, Address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3" name="Text Box 32"/>
          <p:cNvSpPr txBox="1"/>
          <p:nvPr/>
        </p:nvSpPr>
        <p:spPr>
          <a:xfrm>
            <a:off x="10010528" y="6089912"/>
            <a:ext cx="1257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Slide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1588A0-281A-B312-690A-D6AE2F2DA4EA}"/>
              </a:ext>
            </a:extLst>
          </p:cNvPr>
          <p:cNvSpPr txBox="1"/>
          <p:nvPr/>
        </p:nvSpPr>
        <p:spPr>
          <a:xfrm>
            <a:off x="11749548" y="6558116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2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54318"/>
            <a:ext cx="10972800" cy="32004"/>
          </a:xfrm>
          <a:prstGeom prst="rect">
            <a:avLst/>
          </a:prstGeom>
          <a:solidFill>
            <a:srgbClr val="3D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6085" y="829310"/>
          <a:ext cx="11141075" cy="4947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654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058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400" dirty="0">
                          <a:latin typeface="+mn-lt"/>
                        </a:rPr>
                        <a:t>Entity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+mn-lt"/>
                        </a:rPr>
                        <a:t>Key attributes</a:t>
                      </a:r>
                    </a:p>
                  </a:txBody>
                  <a:tcPr marL="73152" marR="45720" marT="36576" marB="365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US" sz="1600">
                          <a:sym typeface="+mn-ea"/>
                        </a:rPr>
                        <a:t>Librarian</a:t>
                      </a:r>
                      <a:endParaRPr lang="en-US" altLang="en-US" sz="1600" dirty="0">
                        <a:latin typeface="+mn-lt"/>
                      </a:endParaRP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US" altLang="en-US" sz="1600" dirty="0">
                          <a:latin typeface="+mn-lt"/>
                          <a:sym typeface="+mn-ea"/>
                        </a:rPr>
                        <a:t>Librarian_ID (PK), Librarian_Name, Email, Phone, Username</a:t>
                      </a:r>
                      <a:endParaRPr lang="en-US" altLang="en-US" sz="1600">
                        <a:latin typeface="+mn-lt"/>
                      </a:endParaRPr>
                    </a:p>
                  </a:txBody>
                  <a:tcPr marL="73152" marR="45720" marT="36576" marB="365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1215">
                <a:tc>
                  <a:txBody>
                    <a:bodyPr/>
                    <a:lstStyle/>
                    <a:p>
                      <a:pPr algn="l"/>
                      <a:r>
                        <a:rPr lang="en-US" altLang="en-US" sz="1800"/>
                        <a:t>Issue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US" altLang="en-US" sz="1600">
                          <a:latin typeface="+mn-lt"/>
                        </a:rPr>
                        <a:t>Issue_ID (PK), Book_ID (FK), Member_ID (FK), Librarian_ID (FK), Issue_Date, Due_Date, Return_Date</a:t>
                      </a:r>
                    </a:p>
                  </a:txBody>
                  <a:tcPr marL="73152" marR="45720" marT="36576" marB="365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r>
                        <a:rPr lang="en-US" altLang="en-US" sz="1600"/>
                        <a:t>Fine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US" altLang="en-US" sz="1600">
                          <a:latin typeface="+mn-lt"/>
                        </a:rPr>
                        <a:t>Fine_ID (PK), Issue_ID (FK), Fine_Amount, Payment_Status, Payment_Date</a:t>
                      </a:r>
                    </a:p>
                  </a:txBody>
                  <a:tcPr marL="73152" marR="45720" marT="36576" marB="365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1215">
                <a:tc>
                  <a:txBody>
                    <a:bodyPr/>
                    <a:lstStyle/>
                    <a:p>
                      <a:r>
                        <a:rPr lang="en-US" altLang="en-US" sz="1600"/>
                        <a:t>Reservation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US" altLang="en-US" sz="1600">
                          <a:latin typeface="+mn-lt"/>
                        </a:rPr>
                        <a:t>Reservation_ID (PK), Book_ID (FK), Member_ID (FK), Reservation_Date, Status</a:t>
                      </a:r>
                    </a:p>
                  </a:txBody>
                  <a:tcPr marL="73152" marR="45720" marT="36576" marB="365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US" altLang="en-US" sz="1600" dirty="0">
                          <a:latin typeface="+mn-lt"/>
                        </a:rPr>
                        <a:t>Supplier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  </a:t>
                      </a:r>
                      <a:r>
                        <a:rPr lang="en-US" altLang="en-US" sz="1600"/>
                        <a:t>Supplier_ID (PK), Supplier_Name, Email, Phone, Address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3048000" y="3260090"/>
            <a:ext cx="6096000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FF4F9C-2828-0E4E-9748-AB4A9A35816B}"/>
              </a:ext>
            </a:extLst>
          </p:cNvPr>
          <p:cNvSpPr txBox="1"/>
          <p:nvPr/>
        </p:nvSpPr>
        <p:spPr>
          <a:xfrm>
            <a:off x="11788877" y="6440129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jj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15557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Relationships and Cardinality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3D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11201400" cy="44197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3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600" dirty="0">
                          <a:solidFill>
                            <a:schemeClr val="tx1"/>
                          </a:solidFill>
                          <a:latin typeface="+mn-lt"/>
                        </a:rPr>
                        <a:t>Relationship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600" dirty="0">
                          <a:solidFill>
                            <a:schemeClr val="tx1"/>
                          </a:solidFill>
                          <a:latin typeface="+mn-lt"/>
                        </a:rPr>
                        <a:t>Cardinality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600" dirty="0">
                          <a:solidFill>
                            <a:schemeClr val="tx1"/>
                          </a:solidFill>
                          <a:latin typeface="+mn-lt"/>
                        </a:rPr>
                        <a:t>Meaning</a:t>
                      </a:r>
                    </a:p>
                  </a:txBody>
                  <a:tcPr marL="73152" marR="45720" marT="36576" marB="365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US" sz="1600" dirty="0">
                          <a:latin typeface="+mn-lt"/>
                        </a:rPr>
                        <a:t>Author</a:t>
                      </a:r>
                      <a:r>
                        <a:rPr sz="1600" dirty="0">
                          <a:latin typeface="+mn-lt"/>
                        </a:rPr>
                        <a:t>– </a:t>
                      </a:r>
                      <a:r>
                        <a:rPr lang="en-US" sz="1600" dirty="0">
                          <a:latin typeface="+mn-lt"/>
                        </a:rPr>
                        <a:t>Book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+mn-lt"/>
                        </a:rPr>
                        <a:t>1 : M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>
                          <a:latin typeface="+mn-lt"/>
                        </a:rPr>
                        <a:t>One </a:t>
                      </a:r>
                      <a:r>
                        <a:rPr lang="en-US" sz="1600">
                          <a:latin typeface="+mn-lt"/>
                        </a:rPr>
                        <a:t>Author </a:t>
                      </a:r>
                      <a:r>
                        <a:rPr sz="1600">
                          <a:latin typeface="+mn-lt"/>
                        </a:rPr>
                        <a:t>can have many </a:t>
                      </a:r>
                      <a:r>
                        <a:rPr lang="en-US" sz="1600">
                          <a:latin typeface="+mn-lt"/>
                        </a:rPr>
                        <a:t>Books</a:t>
                      </a:r>
                      <a:r>
                        <a:rPr sz="1600">
                          <a:latin typeface="+mn-lt"/>
                        </a:rPr>
                        <a:t>.</a:t>
                      </a:r>
                    </a:p>
                  </a:txBody>
                  <a:tcPr marL="73152" marR="45720" marT="36576" marB="365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US" sz="1600" dirty="0">
                          <a:latin typeface="+mn-lt"/>
                        </a:rPr>
                        <a:t>Publisher</a:t>
                      </a:r>
                      <a:r>
                        <a:rPr sz="1600" dirty="0">
                          <a:latin typeface="+mn-lt"/>
                        </a:rPr>
                        <a:t>– </a:t>
                      </a:r>
                      <a:r>
                        <a:rPr lang="en-US" sz="1600" dirty="0">
                          <a:latin typeface="+mn-lt"/>
                        </a:rPr>
                        <a:t>Book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+mn-lt"/>
                        </a:rPr>
                        <a:t>1 : M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>
                          <a:latin typeface="+mn-lt"/>
                        </a:rPr>
                        <a:t>One </a:t>
                      </a:r>
                      <a:r>
                        <a:rPr lang="en-US" sz="1600">
                          <a:latin typeface="+mn-lt"/>
                        </a:rPr>
                        <a:t>Publisher </a:t>
                      </a:r>
                      <a:r>
                        <a:rPr sz="1600">
                          <a:latin typeface="+mn-lt"/>
                        </a:rPr>
                        <a:t>can have many </a:t>
                      </a:r>
                      <a:r>
                        <a:rPr lang="en-US" sz="1600">
                          <a:latin typeface="+mn-lt"/>
                        </a:rPr>
                        <a:t>Books</a:t>
                      </a:r>
                      <a:r>
                        <a:rPr sz="1600">
                          <a:latin typeface="+mn-lt"/>
                        </a:rPr>
                        <a:t>.</a:t>
                      </a:r>
                    </a:p>
                  </a:txBody>
                  <a:tcPr marL="73152" marR="45720" marT="36576" marB="365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US" sz="1600">
                          <a:latin typeface="+mn-lt"/>
                        </a:rPr>
                        <a:t>Category</a:t>
                      </a:r>
                      <a:r>
                        <a:rPr sz="1600">
                          <a:latin typeface="+mn-lt"/>
                        </a:rPr>
                        <a:t> – </a:t>
                      </a:r>
                      <a:r>
                        <a:rPr lang="en-US" sz="1600">
                          <a:latin typeface="+mn-lt"/>
                        </a:rPr>
                        <a:t>Book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>
                          <a:latin typeface="+mn-lt"/>
                        </a:rPr>
                        <a:t>1 : M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>
                          <a:latin typeface="+mn-lt"/>
                        </a:rPr>
                        <a:t>One </a:t>
                      </a:r>
                      <a:r>
                        <a:rPr lang="en-US" sz="1600">
                          <a:latin typeface="+mn-lt"/>
                        </a:rPr>
                        <a:t>Category</a:t>
                      </a:r>
                      <a:r>
                        <a:rPr sz="1600">
                          <a:latin typeface="+mn-lt"/>
                        </a:rPr>
                        <a:t> can </a:t>
                      </a:r>
                      <a:r>
                        <a:rPr lang="en-US" sz="1600">
                          <a:latin typeface="+mn-lt"/>
                        </a:rPr>
                        <a:t>contain </a:t>
                      </a:r>
                      <a:r>
                        <a:rPr sz="1600">
                          <a:latin typeface="+mn-lt"/>
                        </a:rPr>
                        <a:t>many </a:t>
                      </a:r>
                      <a:r>
                        <a:rPr lang="en-US" sz="1600">
                          <a:latin typeface="+mn-lt"/>
                        </a:rPr>
                        <a:t>Book</a:t>
                      </a:r>
                      <a:r>
                        <a:rPr sz="1600">
                          <a:latin typeface="+mn-lt"/>
                        </a:rPr>
                        <a:t>s.</a:t>
                      </a:r>
                    </a:p>
                  </a:txBody>
                  <a:tcPr marL="73152" marR="45720" marT="36576" marB="365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US" sz="1600">
                          <a:latin typeface="+mn-lt"/>
                        </a:rPr>
                        <a:t>Supplier</a:t>
                      </a:r>
                      <a:r>
                        <a:rPr sz="1600">
                          <a:latin typeface="+mn-lt"/>
                        </a:rPr>
                        <a:t>– </a:t>
                      </a:r>
                      <a:r>
                        <a:rPr lang="en-US" sz="1600">
                          <a:latin typeface="+mn-lt"/>
                        </a:rPr>
                        <a:t>Book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US" sz="1600">
                          <a:latin typeface="+mn-lt"/>
                        </a:rPr>
                        <a:t>1</a:t>
                      </a:r>
                      <a:r>
                        <a:rPr sz="1600">
                          <a:latin typeface="+mn-lt"/>
                        </a:rPr>
                        <a:t> : M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US" altLang="en-US" sz="1600" b="0">
                          <a:latin typeface="+mn-lt"/>
                        </a:rPr>
                        <a:t>One Supplier Can Supply Many Books,and each Book Supplied By a Primary Supplier.</a:t>
                      </a:r>
                    </a:p>
                  </a:txBody>
                  <a:tcPr marL="73152" marR="45720" marT="36576" marB="365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US" sz="1600">
                          <a:latin typeface="+mn-lt"/>
                        </a:rPr>
                        <a:t>Book</a:t>
                      </a:r>
                      <a:r>
                        <a:rPr sz="1600">
                          <a:latin typeface="+mn-lt"/>
                        </a:rPr>
                        <a:t>– </a:t>
                      </a:r>
                      <a:r>
                        <a:rPr lang="en-US" sz="1600">
                          <a:latin typeface="+mn-lt"/>
                        </a:rPr>
                        <a:t>Issue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>
                          <a:latin typeface="+mn-lt"/>
                        </a:rPr>
                        <a:t>1 : M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>
                          <a:latin typeface="+mn-lt"/>
                        </a:rPr>
                        <a:t>One </a:t>
                      </a:r>
                      <a:r>
                        <a:rPr lang="en-US" sz="1600">
                          <a:latin typeface="+mn-lt"/>
                        </a:rPr>
                        <a:t>Book </a:t>
                      </a:r>
                      <a:r>
                        <a:rPr sz="1600">
                          <a:latin typeface="+mn-lt"/>
                        </a:rPr>
                        <a:t>can have many </a:t>
                      </a:r>
                      <a:r>
                        <a:rPr lang="en-US" sz="1600">
                          <a:latin typeface="+mn-lt"/>
                        </a:rPr>
                        <a:t>Issue</a:t>
                      </a:r>
                      <a:r>
                        <a:rPr sz="1600">
                          <a:latin typeface="+mn-lt"/>
                        </a:rPr>
                        <a:t> records.</a:t>
                      </a:r>
                    </a:p>
                  </a:txBody>
                  <a:tcPr marL="73152" marR="45720" marT="36576" marB="3657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518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US" sz="1600">
                          <a:latin typeface="+mn-lt"/>
                        </a:rPr>
                        <a:t>Member</a:t>
                      </a:r>
                      <a:r>
                        <a:rPr sz="1600">
                          <a:latin typeface="+mn-lt"/>
                        </a:rPr>
                        <a:t>– </a:t>
                      </a:r>
                      <a:r>
                        <a:rPr lang="en-US" sz="1600">
                          <a:latin typeface="+mn-lt"/>
                        </a:rPr>
                        <a:t>Issue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>
                          <a:latin typeface="+mn-lt"/>
                        </a:rPr>
                        <a:t>1 : M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>
                          <a:latin typeface="+mn-lt"/>
                        </a:rPr>
                        <a:t>One </a:t>
                      </a:r>
                      <a:r>
                        <a:rPr lang="en-US" sz="1600">
                          <a:latin typeface="+mn-lt"/>
                        </a:rPr>
                        <a:t>Member</a:t>
                      </a:r>
                      <a:r>
                        <a:rPr sz="1600">
                          <a:latin typeface="+mn-lt"/>
                        </a:rPr>
                        <a:t> can have many </a:t>
                      </a:r>
                      <a:r>
                        <a:rPr lang="en-US" sz="1600">
                          <a:latin typeface="+mn-lt"/>
                        </a:rPr>
                        <a:t>Issue</a:t>
                      </a:r>
                      <a:r>
                        <a:rPr sz="1600">
                          <a:latin typeface="+mn-lt"/>
                        </a:rPr>
                        <a:t> records.</a:t>
                      </a:r>
                    </a:p>
                  </a:txBody>
                  <a:tcPr marL="73152" marR="45720" marT="36576" marB="3657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851923" y="6200775"/>
            <a:ext cx="1514167" cy="44583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no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rPr lang="en-I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SLIDE</a:t>
            </a:r>
          </a:p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endParaRPr lang="en-I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rPr lang="en-I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2570" y="-1143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9415" y="897255"/>
          <a:ext cx="9197975" cy="44723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10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6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0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170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600" dirty="0">
                          <a:solidFill>
                            <a:schemeClr val="tx1"/>
                          </a:solidFill>
                          <a:latin typeface="+mn-lt"/>
                        </a:rPr>
                        <a:t>Relationship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600" dirty="0">
                          <a:solidFill>
                            <a:schemeClr val="tx1"/>
                          </a:solidFill>
                          <a:latin typeface="+mn-lt"/>
                        </a:rPr>
                        <a:t>Cardinality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600" dirty="0">
                          <a:solidFill>
                            <a:schemeClr val="tx1"/>
                          </a:solidFill>
                          <a:latin typeface="+mn-lt"/>
                        </a:rPr>
                        <a:t>Meaning</a:t>
                      </a:r>
                    </a:p>
                  </a:txBody>
                  <a:tcPr marL="73152" marR="45720" marT="36576" marB="365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17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US" sz="1600" dirty="0">
                          <a:latin typeface="+mn-lt"/>
                        </a:rPr>
                        <a:t>Librarian - Issue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+mn-lt"/>
                        </a:rPr>
                        <a:t>1 : M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+mn-lt"/>
                        </a:rPr>
                        <a:t>One </a:t>
                      </a:r>
                      <a:r>
                        <a:rPr lang="en-US" sz="1600" dirty="0" err="1">
                          <a:latin typeface="+mn-lt"/>
                        </a:rPr>
                        <a:t>libran</a:t>
                      </a:r>
                      <a:r>
                        <a:rPr lang="en-US" sz="1600" dirty="0">
                          <a:latin typeface="+mn-lt"/>
                        </a:rPr>
                        <a:t> </a:t>
                      </a:r>
                      <a:r>
                        <a:rPr sz="1600" dirty="0">
                          <a:latin typeface="+mn-lt"/>
                        </a:rPr>
                        <a:t>can</a:t>
                      </a:r>
                      <a:r>
                        <a:rPr lang="en-US" sz="1600" dirty="0">
                          <a:latin typeface="+mn-lt"/>
                        </a:rPr>
                        <a:t> manage</a:t>
                      </a:r>
                      <a:r>
                        <a:rPr sz="1600" dirty="0">
                          <a:latin typeface="+mn-lt"/>
                        </a:rPr>
                        <a:t> many</a:t>
                      </a:r>
                      <a:r>
                        <a:rPr lang="en-US" sz="1600" dirty="0">
                          <a:latin typeface="+mn-lt"/>
                        </a:rPr>
                        <a:t> issue records.</a:t>
                      </a:r>
                    </a:p>
                  </a:txBody>
                  <a:tcPr marL="73152" marR="45720" marT="36576" marB="365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5505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US" sz="1600" dirty="0">
                          <a:latin typeface="+mn-lt"/>
                        </a:rPr>
                        <a:t>Member - Reservation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+mn-lt"/>
                        </a:rPr>
                        <a:t>1 : M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>
                          <a:latin typeface="+mn-lt"/>
                        </a:rPr>
                        <a:t>One</a:t>
                      </a:r>
                      <a:r>
                        <a:rPr lang="en-US" sz="1600">
                          <a:latin typeface="+mn-lt"/>
                        </a:rPr>
                        <a:t> member can make many reservation.</a:t>
                      </a:r>
                      <a:endParaRPr sz="1600">
                        <a:latin typeface="+mn-lt"/>
                      </a:endParaRPr>
                    </a:p>
                  </a:txBody>
                  <a:tcPr marL="73152" marR="45720" marT="36576" marB="365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17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US" sz="1600">
                          <a:latin typeface="+mn-lt"/>
                        </a:rPr>
                        <a:t>Book - Reservation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>
                          <a:latin typeface="+mn-lt"/>
                        </a:rPr>
                        <a:t>1 : M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+mn-lt"/>
                        </a:rPr>
                        <a:t>One</a:t>
                      </a:r>
                      <a:r>
                        <a:rPr lang="en-US" sz="1600" dirty="0">
                          <a:latin typeface="+mn-lt"/>
                        </a:rPr>
                        <a:t> book can have many reservation records.</a:t>
                      </a:r>
                    </a:p>
                  </a:txBody>
                  <a:tcPr marL="73152" marR="45720" marT="36576" marB="365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17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US" sz="1600">
                          <a:latin typeface="+mn-lt"/>
                        </a:rPr>
                        <a:t>iss</a:t>
                      </a:r>
                      <a:r>
                        <a:rPr lang="en-IN" altLang="en-US" sz="1600">
                          <a:latin typeface="+mn-lt"/>
                        </a:rPr>
                        <a:t>ue - Fine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IN" sz="1600">
                          <a:latin typeface="+mn-lt"/>
                        </a:rPr>
                        <a:t>1</a:t>
                      </a:r>
                      <a:r>
                        <a:rPr sz="1600">
                          <a:latin typeface="+mn-lt"/>
                        </a:rPr>
                        <a:t>: </a:t>
                      </a:r>
                      <a:r>
                        <a:rPr lang="en-IN" sz="1600">
                          <a:latin typeface="+mn-lt"/>
                        </a:rPr>
                        <a:t>1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US" altLang="en-US" sz="1600" dirty="0">
                          <a:latin typeface="+mn-lt"/>
                          <a:sym typeface="+mn-ea"/>
                        </a:rPr>
                        <a:t>One issue can have one fine record.</a:t>
                      </a:r>
                      <a:endParaRPr lang="en-US" altLang="en-US" sz="1600" dirty="0">
                        <a:latin typeface="+mn-lt"/>
                      </a:endParaRPr>
                    </a:p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endParaRPr lang="en-US" altLang="en-US" sz="1600" dirty="0">
                        <a:latin typeface="+mn-lt"/>
                      </a:endParaRPr>
                    </a:p>
                  </a:txBody>
                  <a:tcPr marL="73152" marR="45720" marT="36576" marB="365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198916" y="6473952"/>
            <a:ext cx="32252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rPr lang="en-US" dirty="0"/>
              <a:t>10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94564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lang="en-IN" dirty="0"/>
              <a:t>7. Relational Database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3D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45435" y="1475040"/>
          <a:ext cx="10254560" cy="484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5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dirty="0"/>
                        <a:t>AUTHOR (Author_ID, Author_Name, Email, Phone)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i="1" dirty="0">
                          <a:sym typeface="+mn-ea"/>
                        </a:rPr>
                        <a:t>PK: Author_ID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PUBLISHER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dirty="0"/>
                        <a:t>PUBLISHER (Publisher_ID, Publisher_Name, Email, Phone, Address)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dirty="0"/>
                        <a:t>PK: Publisher_ID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dirty="0"/>
                        <a:t>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dirty="0"/>
                        <a:t>CATEGORY (Category_ID, Category_Name, Description)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dirty="0"/>
                        <a:t>PK: Category_ID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dirty="0"/>
                        <a:t>SUPPLIER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dirty="0"/>
                        <a:t>SUPPLIER (Supplier_ID, Supplier_Name, Email, Phone, Address)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dirty="0"/>
                        <a:t>PK: Supplier_ID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dirty="0"/>
                        <a:t>BOOK (Book_ID, Book_Name, ISBN, Quantity, Available_Count, Author_ID, Publisher_ID, Category_ID,Supplier_ID)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dirty="0"/>
                        <a:t>PK: Book_ID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dirty="0"/>
                        <a:t>FK: Author_ID → AUTHOR(Author_ID)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dirty="0"/>
                        <a:t>FK: Publisher_ID</a:t>
                      </a:r>
                      <a:r>
                        <a:rPr lang="en-IN" altLang="en-US" dirty="0"/>
                        <a:t>  </a:t>
                      </a:r>
                      <a:r>
                        <a:rPr lang="en-US" altLang="en-US" sz="1800" dirty="0">
                          <a:sym typeface="+mn-ea"/>
                        </a:rPr>
                        <a:t>PUBLISHER(Publisher_I</a:t>
                      </a:r>
                      <a:r>
                        <a:rPr lang="en-IN" altLang="en-US" sz="1800" dirty="0">
                          <a:sym typeface="+mn-ea"/>
                        </a:rPr>
                        <a:t>D)</a:t>
                      </a:r>
                      <a:endParaRPr lang="en-US" altLang="en-US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dirty="0"/>
                        <a:t>FK: Category_ID → CATEGORY(Category_ID)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dirty="0"/>
                        <a:t>FK:Supplier_ID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dirty="0"/>
                        <a:t>SUPPLIER(Supplier_ID)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11272213" y="6469598"/>
            <a:ext cx="634652" cy="3884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467848" y="6586855"/>
            <a:ext cx="1492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SLIDE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45490" y="1475105"/>
          <a:ext cx="11138535" cy="4297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33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8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6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dirty="0"/>
                        <a:t>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dirty="0"/>
                        <a:t>MEMBER (Member_ID, Member_Name, Department, Email, Phone, Membership_Date)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i="1" dirty="0">
                          <a:sym typeface="+mn-ea"/>
                        </a:rPr>
                        <a:t>PK: Member_ID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LIBRARIAN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dirty="0"/>
                        <a:t>LIBRARIAN (Librarian_ID, Librarian_Name, Email, Phone, User_Name)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dirty="0"/>
                        <a:t>PK: Librarian_ID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dirty="0"/>
                        <a:t>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dirty="0"/>
                        <a:t>ISSUE (Issue_ID, Book_ID, Member_ID, Librarian_ID, Issue_Date, Due_Date, Return_Date)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dirty="0"/>
                        <a:t>PK: Issue_ID</a:t>
                      </a:r>
                    </a:p>
                    <a:p>
                      <a:r>
                        <a:rPr lang="en-US" altLang="en-US" dirty="0"/>
                        <a:t>FK: Book_ID → BOOK(Book_ID)</a:t>
                      </a:r>
                    </a:p>
                    <a:p>
                      <a:r>
                        <a:rPr lang="en-US" altLang="en-US" dirty="0"/>
                        <a:t>FK: Member_ID → MEMBER(Member_ID)</a:t>
                      </a:r>
                    </a:p>
                    <a:p>
                      <a:r>
                        <a:rPr lang="en-US" altLang="en-US" dirty="0"/>
                        <a:t>FK: Librarian_ID → LIBRARIAN(Librarian_ID)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dirty="0"/>
                        <a:t>FINE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dirty="0"/>
                        <a:t>FINE (Fine_ID, Issue_ID, Fine_Amount, Payment_Status)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dirty="0"/>
                        <a:t>PK: Fine_ID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dirty="0"/>
                        <a:t>FK: Issue_ID → ISSUE(Issue_ID)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dirty="0"/>
                        <a:t>RESERVATION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dirty="0"/>
                        <a:t>RESERVATION (Reservation_ID, Book_ID, Member_ID, Reservation_Date, Status)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dirty="0"/>
                        <a:t>PK: Reservation_ID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dirty="0"/>
                        <a:t>FK: Book_ID → BOOK(Book_ID)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dirty="0"/>
                        <a:t>FK: Member_ID → MEMBER(Member_ID)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0775255-6022-7DFF-F3BE-D5F080CAA3E0}"/>
              </a:ext>
            </a:extLst>
          </p:cNvPr>
          <p:cNvSpPr txBox="1"/>
          <p:nvPr/>
        </p:nvSpPr>
        <p:spPr>
          <a:xfrm>
            <a:off x="11582400" y="6518787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8225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8. ER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3072" y="677146"/>
            <a:ext cx="590232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  <a:latin typeface="Aptos"/>
              </a:defRPr>
            </a:pPr>
            <a:r>
              <a:rPr sz="1600" dirty="0"/>
              <a:t>Conceptual database design – </a:t>
            </a:r>
            <a:r>
              <a:rPr lang="en-US" sz="1600" dirty="0"/>
              <a:t>10 </a:t>
            </a:r>
            <a:r>
              <a:rPr sz="1600" dirty="0"/>
              <a:t>entities and their relationships</a:t>
            </a:r>
          </a:p>
        </p:txBody>
      </p:sp>
      <p:pic>
        <p:nvPicPr>
          <p:cNvPr id="8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77" y="1014331"/>
            <a:ext cx="11083188" cy="541596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EFA549-025B-A7B4-6CCD-8DDC7E87F09B}"/>
              </a:ext>
            </a:extLst>
          </p:cNvPr>
          <p:cNvSpPr txBox="1"/>
          <p:nvPr/>
        </p:nvSpPr>
        <p:spPr>
          <a:xfrm>
            <a:off x="11700387" y="6597445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9. Team Responsibilities and GitHub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3D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37034"/>
          <a:ext cx="10698480" cy="304233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5171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600"/>
                        <a:t>Team Member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600" dirty="0"/>
                        <a:t>Assigned responsibility</a:t>
                      </a:r>
                    </a:p>
                  </a:txBody>
                  <a:tcPr marL="73152" marR="45720" marT="36576" marB="365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 dirty="0"/>
                        <a:t>Student 1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 dirty="0"/>
                        <a:t>Project title, introduction, and problem statement</a:t>
                      </a:r>
                      <a:r>
                        <a:rPr lang="en-US" sz="1600" dirty="0"/>
                        <a:t>, Objectives</a:t>
                      </a:r>
                      <a:endParaRPr sz="1600" dirty="0"/>
                    </a:p>
                  </a:txBody>
                  <a:tcPr marL="73152" marR="45720" marT="36576" marB="365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 dirty="0"/>
                        <a:t>Student 2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US" sz="1600" dirty="0"/>
                        <a:t>S</a:t>
                      </a:r>
                      <a:r>
                        <a:rPr sz="1600" dirty="0"/>
                        <a:t>cope, and entity identification</a:t>
                      </a:r>
                      <a:r>
                        <a:rPr lang="en-US" sz="1600" dirty="0"/>
                        <a:t>, Attributes, Primary Keys, and Foreign Keys, </a:t>
                      </a:r>
                      <a:endParaRPr sz="1600" dirty="0"/>
                    </a:p>
                  </a:txBody>
                  <a:tcPr marL="73152" marR="45720" marT="36576" marB="365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/>
                        <a:t>Student 3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3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IN" sz="1600" dirty="0"/>
                        <a:t>Relationships and cardinality, </a:t>
                      </a:r>
                      <a:r>
                        <a:rPr lang="de-DE" sz="1600" dirty="0"/>
                        <a:t>Relational schema and ER diagram</a:t>
                      </a:r>
                    </a:p>
                    <a:p>
                      <a:pPr>
                        <a:defRPr sz="13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endParaRPr sz="1600" dirty="0"/>
                    </a:p>
                  </a:txBody>
                  <a:tcPr marL="73152" marR="45720" marT="36576" marB="365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/>
                        <a:t>Student 4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3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US" sz="1600" dirty="0"/>
                        <a:t>GitHub repository and PPT documentation</a:t>
                      </a:r>
                    </a:p>
                    <a:p>
                      <a:pPr>
                        <a:defRPr sz="13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endParaRPr sz="1600" dirty="0"/>
                    </a:p>
                  </a:txBody>
                  <a:tcPr marL="73152" marR="45720" marT="36576" marB="365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532120"/>
            <a:ext cx="552375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D4A"/>
                </a:solidFill>
                <a:latin typeface="Aptos"/>
              </a:defRPr>
            </a:pPr>
            <a:r>
              <a:rPr sz="1600" dirty="0"/>
              <a:t>GitHub Repository: Add the repository name and link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9084" y="6473952"/>
            <a:ext cx="32252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rPr dirty="0"/>
              <a:t>1</a:t>
            </a:r>
            <a:r>
              <a:rPr lang="en-US" dirty="0"/>
              <a:t>4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10.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3D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2869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defRPr sz="2000" b="0">
                <a:solidFill>
                  <a:srgbClr val="232323"/>
                </a:solidFill>
                <a:latin typeface="Aptos"/>
              </a:defRPr>
            </a:pPr>
            <a:r>
              <a:rPr lang="en-IN" sz="2000" dirty="0"/>
              <a:t>The proposed Library Management System identifies ten major library entities</a:t>
            </a:r>
            <a:r>
              <a:rPr dirty="0"/>
              <a:t>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 b="0">
                <a:solidFill>
                  <a:srgbClr val="232323"/>
                </a:solidFill>
                <a:latin typeface="Aptos"/>
              </a:defRPr>
            </a:pPr>
            <a:r>
              <a:rPr dirty="0"/>
              <a:t>The attributes, Primary Keys, and Foreign Keys have been identified.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 b="0">
                <a:solidFill>
                  <a:srgbClr val="232323"/>
                </a:solidFill>
                <a:latin typeface="Aptos"/>
              </a:defRPr>
            </a:pPr>
            <a:r>
              <a:rPr dirty="0"/>
              <a:t>The relationships and cardinalities between the entities have been defined.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 b="0">
                <a:solidFill>
                  <a:srgbClr val="232323"/>
                </a:solidFill>
                <a:latin typeface="Aptos"/>
              </a:defRPr>
            </a:pPr>
            <a:r>
              <a:rPr dirty="0"/>
              <a:t>The ER diagram and relational database schema have been designed.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 b="0">
                <a:solidFill>
                  <a:srgbClr val="232323"/>
                </a:solidFill>
                <a:latin typeface="Aptos"/>
              </a:defRPr>
            </a:pPr>
            <a:r>
              <a:rPr dirty="0"/>
              <a:t>The design will serve as the foundation for database implementation in Review–II.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91628" y="6359652"/>
            <a:ext cx="32252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rPr dirty="0"/>
              <a:t>1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40080" y="51892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75B91"/>
                </a:solidFill>
                <a:latin typeface="Aptos"/>
              </a:defRPr>
            </a:pPr>
            <a:r>
              <a:rPr dirty="0"/>
              <a:t>Review–I Focus: Database Design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1248</Words>
  <Application>Microsoft Office PowerPoint</Application>
  <PresentationFormat>Widescreen</PresentationFormat>
  <Paragraphs>193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VITTHAL</dc:creator>
  <dc:description>generated using python-pptx</dc:description>
  <cp:lastModifiedBy>Surya Vamsi Pasumarthi</cp:lastModifiedBy>
  <cp:revision>22</cp:revision>
  <dcterms:created xsi:type="dcterms:W3CDTF">2013-01-27T09:14:00Z</dcterms:created>
  <dcterms:modified xsi:type="dcterms:W3CDTF">2026-10-03T07:41:23Z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B407266EF5B145E3B2C4D91BD248730B_12</vt:lpwstr>
  </property>
</Properties>
</file>