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81" r:id="rId25"/>
    <p:sldId id="279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ABF69-7249-46F6-8F49-9CF764FB144C}" type="datetimeFigureOut">
              <a:rPr lang="en-IN" smtClean="0"/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A03BAB-BD5E-432F-9EB5-FAED4B3AFF3E}" type="slidenum">
              <a:rPr lang="en-IN" smtClean="0"/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5;p1"/>
          <p:cNvSpPr txBox="1"/>
          <p:nvPr/>
        </p:nvSpPr>
        <p:spPr>
          <a:xfrm>
            <a:off x="1040202" y="935443"/>
            <a:ext cx="10696612" cy="19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0" i="0" u="none" strike="noStrike" cap="none" dirty="0">
              <a:solidFill>
                <a:srgbClr val="00B050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5" name="Google Shape;37;p1"/>
          <p:cNvSpPr/>
          <p:nvPr/>
        </p:nvSpPr>
        <p:spPr>
          <a:xfrm>
            <a:off x="151632" y="3399642"/>
            <a:ext cx="6013193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25B11AI401-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HARIJANA VAMSI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ea typeface="Glegoo"/>
                <a:cs typeface="Times New Roman" panose="02020603050405020304" pitchFamily="18" charset="0"/>
                <a:sym typeface="Glegoo"/>
              </a:rPr>
              <a:t>25B11AI905- </a:t>
            </a:r>
            <a:r>
              <a:rPr lang="en-US" altLang="en-US" sz="1800" dirty="0">
                <a:latin typeface="Times New Roman" panose="02020603050405020304" pitchFamily="18" charset="0"/>
                <a:ea typeface="Glegoo"/>
                <a:cs typeface="Times New Roman" panose="02020603050405020304" pitchFamily="18" charset="0"/>
                <a:sym typeface="Glegoo"/>
              </a:rPr>
              <a:t>PASUMARTHI SURYA VAMSI</a:t>
            </a:r>
            <a:r>
              <a:rPr lang="en-US" sz="1800" dirty="0">
                <a:latin typeface="Times New Roman" panose="02020603050405020304" pitchFamily="18" charset="0"/>
                <a:ea typeface="Glegoo"/>
                <a:cs typeface="Times New Roman" panose="02020603050405020304" pitchFamily="18" charset="0"/>
                <a:sym typeface="Glegoo"/>
              </a:rPr>
              <a:t>  </a:t>
            </a:r>
            <a:endParaRPr sz="1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7" name="Google Shape;38;p1"/>
          <p:cNvSpPr txBox="1"/>
          <p:nvPr/>
        </p:nvSpPr>
        <p:spPr>
          <a:xfrm>
            <a:off x="510209" y="-133157"/>
            <a:ext cx="11171582" cy="981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Library Management System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Google Shape;39;p1"/>
          <p:cNvSpPr/>
          <p:nvPr/>
        </p:nvSpPr>
        <p:spPr>
          <a:xfrm>
            <a:off x="3417317" y="5183913"/>
            <a:ext cx="5509546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Under esteemed guidance of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US" sz="18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Dr P Kishorekumar</a:t>
            </a:r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sz="1800" noProof="1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Associate Professor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Department of AIML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Aditya University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1800" b="1" dirty="0">
              <a:solidFill>
                <a:schemeClr val="dk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11" name="Google Shape;40;p1"/>
          <p:cNvSpPr txBox="1"/>
          <p:nvPr/>
        </p:nvSpPr>
        <p:spPr>
          <a:xfrm>
            <a:off x="3048719" y="1822401"/>
            <a:ext cx="6094562" cy="643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C55A1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BATCH NUMBER:17</a:t>
            </a:r>
            <a:endParaRPr lang="en-US" sz="1800" b="1" dirty="0">
              <a:solidFill>
                <a:srgbClr val="C55A1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b="1" dirty="0">
              <a:solidFill>
                <a:srgbClr val="C55A11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3746" y="3338423"/>
            <a:ext cx="5672297" cy="8735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25B21AIC24     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UNNAM NAGARJUNA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Clr>
                <a:schemeClr val="dk1"/>
              </a:buClr>
              <a:buSzPts val="1800"/>
              <a:buFont typeface="Arial" panose="020B0604020202020204"/>
              <a:buChar char="•"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25B21AI054     - </a:t>
            </a: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ARABOLU RAMBABU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Google Shape;38;p1"/>
          <p:cNvSpPr txBox="1"/>
          <p:nvPr/>
        </p:nvSpPr>
        <p:spPr>
          <a:xfrm>
            <a:off x="747694" y="707054"/>
            <a:ext cx="10696612" cy="981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lvl="0" algn="ctr"/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Capstone Project review -2</a:t>
            </a:r>
            <a:endParaRPr lang="en-US" sz="2400" b="1" i="0" u="none" strike="noStrike" cap="none" dirty="0">
              <a:solidFill>
                <a:srgbClr val="00B050"/>
              </a:solidFill>
              <a:latin typeface="Times New Roman" panose="02020603050405020304" pitchFamily="18" charset="0"/>
              <a:ea typeface="Times New Roman" panose="02020603050405020304"/>
              <a:cs typeface="Times New Roman" panose="02020603050405020304" pitchFamily="18" charset="0"/>
              <a:sym typeface="Times New Roman" panose="020206030504050203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216086" y="2647223"/>
            <a:ext cx="1759827" cy="4648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en-US" sz="1800" b="1" dirty="0">
                <a:solidFill>
                  <a:schemeClr val="dk1"/>
                </a:solidFill>
                <a:latin typeface="Times New Roman" panose="02020603050405020304" pitchFamily="18" charset="0"/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Presented by</a:t>
            </a:r>
            <a:r>
              <a:rPr lang="en-US" sz="1800" b="1" dirty="0">
                <a:solidFill>
                  <a:schemeClr val="dk1"/>
                </a:solidFill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:</a:t>
            </a:r>
            <a:r>
              <a:rPr lang="en-US" sz="1800" dirty="0">
                <a:solidFill>
                  <a:schemeClr val="dk1"/>
                </a:solidFill>
                <a:ea typeface="Times New Roman" panose="02020603050405020304"/>
                <a:cs typeface="Times New Roman" panose="02020603050405020304" pitchFamily="18" charset="0"/>
                <a:sym typeface="Times New Roman" panose="02020603050405020304"/>
              </a:rPr>
              <a:t>  </a:t>
            </a:r>
            <a:endParaRPr lang="en-US" sz="1800" dirty="0">
              <a:cs typeface="Times New Roman" panose="02020603050405020304" pitchFamily="18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48719" y="4547312"/>
            <a:ext cx="6246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sym typeface="Times New Roman" panose="02020603050405020304"/>
              </a:rPr>
              <a:t>Academic Year: 2026-2027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84152"/>
            <a:ext cx="326320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Project Overview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71600"/>
            <a:ext cx="10607040" cy="4207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Library Management System is a centralized relational database designed to manage library information efficiently.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maintains information about books, authors, categories, publishers, members, librarians, suppliers, issue records, fines, and reservations.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system connects these entities through Primary Keys and Foreign Keys.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supports efficient management of book availability, issue and return transactions, reservations, and fine records.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database design helps reduce data duplication, maintain data integrity, and enable efficient SQL-based retrieval.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562301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84152"/>
            <a:ext cx="630608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Existing System and Proposed System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94360" y="1078991"/>
            <a:ext cx="10972800" cy="45719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397656"/>
          <a:ext cx="10881360" cy="47511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Existing System</a:t>
                      </a:r>
                      <a:endParaRPr lang="en-IN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Proposed Database System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Manual maintenance of library records</a:t>
                      </a:r>
                      <a:endParaRPr lang="en-IN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Centralized relational database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Book and member details maintained separately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Related tables with defined relationships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duplication may occur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Primary Keys and Foreign Keys maintain data integrity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Finding book/member information is time-consuming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SQL queries enable quick data retrieval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Difficult to track issued and returned books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 and return records are systematically maintained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Fine and reservation details may be difficult to manage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Dedicated Fine and Reservation tables</a:t>
                      </a:r>
                      <a:endParaRPr lang="en-IN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  <a:tr h="587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Report generation is difficult</a:t>
                      </a:r>
                      <a:endParaRPr lang="en-IN" b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Joins, aggregate functions and SQL queries support reporting</a:t>
                      </a:r>
                      <a:endParaRPr lang="en-IN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3. Functional Requirements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1432"/>
            <a:ext cx="10607040" cy="5017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Book Management</a:t>
            </a:r>
            <a:r>
              <a:rPr lang="en-IN" dirty="0"/>
              <a:t> – Add, update, search, and display book details.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Member Management</a:t>
            </a:r>
            <a:r>
              <a:rPr lang="en-IN" dirty="0"/>
              <a:t> – Store and maintain library member information.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Author Management</a:t>
            </a:r>
            <a:r>
              <a:rPr lang="en-IN" dirty="0"/>
              <a:t> – Maintain author details and associate authors with books.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Publisher Management</a:t>
            </a:r>
            <a:r>
              <a:rPr lang="en-IN" dirty="0"/>
              <a:t> – Store publisher information and associate publishers with books.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Category Management</a:t>
            </a:r>
            <a:r>
              <a:rPr lang="en-IN" dirty="0"/>
              <a:t> – Maintain book categories and descriptions.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Librarian Management</a:t>
            </a:r>
            <a:r>
              <a:rPr lang="en-IN" dirty="0"/>
              <a:t> – Store librarian details and manage library transactions.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Issue &amp; Return Management</a:t>
            </a:r>
            <a:r>
              <a:rPr lang="en-IN" dirty="0"/>
              <a:t> – Record book issue, due date, and return details.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Fine Management</a:t>
            </a:r>
            <a:r>
              <a:rPr lang="en-IN" dirty="0"/>
              <a:t> – Maintain fine amount, payment status, and payment date.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Reservation Management</a:t>
            </a:r>
            <a:r>
              <a:rPr lang="en-IN" dirty="0"/>
              <a:t> – Record and manage book reservations made by members.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Supplier Management</a:t>
            </a:r>
            <a:r>
              <a:rPr lang="en-IN" dirty="0"/>
              <a:t> – Maintain supplier details for books.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Search and Reporting</a:t>
            </a:r>
            <a:r>
              <a:rPr lang="en-IN" dirty="0"/>
              <a:t> – Retrieve useful library information using SQL queries.</a:t>
            </a:r>
            <a:endParaRPr lang="en-IN" dirty="0"/>
          </a:p>
          <a:p>
            <a:pPr>
              <a:lnSpc>
                <a:spcPct val="150000"/>
              </a:lnSpc>
              <a:spcAft>
                <a:spcPts val="900"/>
              </a:spcAft>
              <a:defRPr sz="17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255101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ER DIAGRAM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500" y="1834515"/>
            <a:ext cx="10287000" cy="50234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04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74320"/>
            <a:ext cx="71833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. Database Schema Used for Implementation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94360" y="985340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2000" y="1249483"/>
          <a:ext cx="10515600" cy="54113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Table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Primary Key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Foreign Keys</a:t>
                      </a:r>
                      <a:endParaRPr lang="en-IN"/>
                    </a:p>
                  </a:txBody>
                  <a:tcPr anchor="ctr"/>
                </a:tc>
              </a:tr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AUTHOR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Author_ID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PUBLISHER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Publisher_ID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CATEGORY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Category_ID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SUPPLIER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Supplier_ID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615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BOOK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Book_ID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Author_ID, Publisher_ID, Category_ID</a:t>
                      </a:r>
                      <a:endParaRPr lang="en-IN"/>
                    </a:p>
                  </a:txBody>
                  <a:tcPr anchor="ctr"/>
                </a:tc>
              </a:tr>
              <a:tr h="508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MEMBER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Member_ID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3979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LIBRARIAN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Librarian_ID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—</a:t>
                      </a:r>
                      <a:endParaRPr lang="en-IN"/>
                    </a:p>
                  </a:txBody>
                  <a:tcPr anchor="ctr"/>
                </a:tc>
              </a:tr>
              <a:tr h="615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ISSUE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Issue_ID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Book_ID, Member_ID, Librarian_ID</a:t>
                      </a:r>
                      <a:endParaRPr lang="en-IN"/>
                    </a:p>
                  </a:txBody>
                  <a:tcPr anchor="ctr"/>
                </a:tc>
              </a:tr>
              <a:tr h="5085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FINE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Fine_ID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Issue_ID</a:t>
                      </a:r>
                      <a:endParaRPr lang="en-IN"/>
                    </a:p>
                  </a:txBody>
                  <a:tcPr anchor="ctr"/>
                </a:tc>
              </a:tr>
              <a:tr h="7264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RESERVATION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Reservation_ID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Book_ID</a:t>
                      </a:r>
                      <a:r>
                        <a:rPr lang="en-IN" dirty="0"/>
                        <a:t>, </a:t>
                      </a:r>
                      <a:r>
                        <a:rPr lang="en-IN" dirty="0" err="1"/>
                        <a:t>Member_ID</a:t>
                      </a:r>
                      <a:endParaRPr lang="en-IN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96193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6</a:t>
            </a:r>
            <a:r>
              <a:rPr dirty="0"/>
              <a:t>. Table Design and Constraints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45543"/>
          <a:ext cx="11155680" cy="4819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Table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Key / Validation Rules</a:t>
                      </a:r>
                      <a:endParaRPr lang="en-IN" dirty="0"/>
                    </a:p>
                  </a:txBody>
                  <a:tcPr anchor="ctr"/>
                </a:tc>
              </a:tr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AUTHOR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Author_ID; Author_Name, Email, Phone</a:t>
                      </a:r>
                      <a:endParaRPr lang="en-IN"/>
                    </a:p>
                  </a:txBody>
                  <a:tcPr anchor="ctr"/>
                </a:tc>
              </a:tr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PUBLISHER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Publisher_ID; Publisher_Name, Email, Phone, Address</a:t>
                      </a:r>
                      <a:endParaRPr lang="en-IN"/>
                    </a:p>
                  </a:txBody>
                  <a:tcPr anchor="ctr"/>
                </a:tc>
              </a:tr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CATEGORY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Category_ID; Category_Name, Description</a:t>
                      </a:r>
                      <a:endParaRPr lang="en-IN"/>
                    </a:p>
                  </a:txBody>
                  <a:tcPr anchor="ctr"/>
                </a:tc>
              </a:tr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SUPPLIER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PK: </a:t>
                      </a:r>
                      <a:r>
                        <a:rPr lang="en-IN" dirty="0" err="1"/>
                        <a:t>Supplier_ID</a:t>
                      </a:r>
                      <a:r>
                        <a:rPr lang="en-IN" dirty="0"/>
                        <a:t>; </a:t>
                      </a:r>
                      <a:r>
                        <a:rPr lang="en-IN" dirty="0" err="1"/>
                        <a:t>Supplier_Name</a:t>
                      </a:r>
                      <a:r>
                        <a:rPr lang="en-IN" dirty="0"/>
                        <a:t>, Email, Phone, Address</a:t>
                      </a:r>
                      <a:endParaRPr lang="en-IN" dirty="0"/>
                    </a:p>
                  </a:txBody>
                  <a:tcPr anchor="ctr"/>
                </a:tc>
              </a:tr>
              <a:tr h="8032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BOOK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PK: </a:t>
                      </a:r>
                      <a:r>
                        <a:rPr lang="en-IN" dirty="0" err="1"/>
                        <a:t>Book_ID</a:t>
                      </a:r>
                      <a:r>
                        <a:rPr lang="en-IN" dirty="0"/>
                        <a:t>; FK: </a:t>
                      </a:r>
                      <a:r>
                        <a:rPr lang="en-IN" dirty="0" err="1"/>
                        <a:t>Author_ID</a:t>
                      </a:r>
                      <a:r>
                        <a:rPr lang="en-IN" dirty="0"/>
                        <a:t>, </a:t>
                      </a:r>
                      <a:r>
                        <a:rPr lang="en-IN" dirty="0" err="1"/>
                        <a:t>Publisher_ID</a:t>
                      </a:r>
                      <a:r>
                        <a:rPr lang="en-IN" dirty="0"/>
                        <a:t>, </a:t>
                      </a:r>
                      <a:r>
                        <a:rPr lang="en-IN" dirty="0" err="1"/>
                        <a:t>Category_ID</a:t>
                      </a:r>
                      <a:r>
                        <a:rPr lang="en-IN" dirty="0"/>
                        <a:t>; </a:t>
                      </a:r>
                      <a:r>
                        <a:rPr lang="en-IN" dirty="0" err="1"/>
                        <a:t>Book_Name</a:t>
                      </a:r>
                      <a:r>
                        <a:rPr lang="en-IN" dirty="0"/>
                        <a:t>, ISBN, Quantity, </a:t>
                      </a:r>
                      <a:r>
                        <a:rPr lang="en-IN" dirty="0" err="1"/>
                        <a:t>Available_Count</a:t>
                      </a:r>
                      <a:endParaRPr lang="en-IN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67339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 Table Design and Constraints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79"/>
          <a:ext cx="11155680" cy="487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5577840"/>
              </a:tblGrid>
              <a:tr h="974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MEMBER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Member_ID; Member_Name, Department, Email, Phone, Membership_Date</a:t>
                      </a:r>
                      <a:endParaRPr lang="en-IN" dirty="0"/>
                    </a:p>
                  </a:txBody>
                  <a:tcPr anchor="ctr"/>
                </a:tc>
              </a:tr>
              <a:tr h="974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LIBRARIAN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Librarian_ID; Librarian_Name, Email, Phone, Username</a:t>
                      </a:r>
                      <a:endParaRPr lang="en-IN"/>
                    </a:p>
                  </a:txBody>
                  <a:tcPr anchor="ctr"/>
                </a:tc>
              </a:tr>
              <a:tr h="974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ISSUE</a:t>
                      </a:r>
                      <a:endParaRPr lang="en-IN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Issue_ID; FK: Book_ID, Member_ID, Librarian_ID; Issue_Date, Due_Date, Return_Date</a:t>
                      </a:r>
                      <a:endParaRPr lang="en-IN"/>
                    </a:p>
                  </a:txBody>
                  <a:tcPr anchor="ctr"/>
                </a:tc>
              </a:tr>
              <a:tr h="974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FINE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PK: Fine_ID; FK: Issue_ID; Fine_Amount, Payment_Status, Payment_Date</a:t>
                      </a:r>
                      <a:endParaRPr lang="en-IN" dirty="0"/>
                    </a:p>
                  </a:txBody>
                  <a:tcPr anchor="ctr"/>
                </a:tc>
              </a:tr>
              <a:tr h="9747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RESERVATION</a:t>
                      </a:r>
                      <a:endParaRPr lang="en-IN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PK: </a:t>
                      </a:r>
                      <a:r>
                        <a:rPr lang="en-IN" dirty="0" err="1"/>
                        <a:t>Reservation_ID</a:t>
                      </a:r>
                      <a:r>
                        <a:rPr lang="en-IN" dirty="0"/>
                        <a:t>; FK: </a:t>
                      </a:r>
                      <a:r>
                        <a:rPr lang="en-IN" dirty="0" err="1"/>
                        <a:t>Book_ID</a:t>
                      </a:r>
                      <a:r>
                        <a:rPr lang="en-IN" dirty="0"/>
                        <a:t>, </a:t>
                      </a:r>
                      <a:r>
                        <a:rPr lang="en-IN" dirty="0" err="1"/>
                        <a:t>Member_ID</a:t>
                      </a:r>
                      <a:r>
                        <a:rPr lang="en-IN" dirty="0"/>
                        <a:t>; </a:t>
                      </a:r>
                      <a:r>
                        <a:rPr lang="en-IN" dirty="0" err="1"/>
                        <a:t>Reservation_Date</a:t>
                      </a:r>
                      <a:r>
                        <a:rPr lang="en-IN" dirty="0"/>
                        <a:t>, Status</a:t>
                      </a:r>
                      <a:endParaRPr lang="en-IN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2393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7</a:t>
            </a:r>
            <a:r>
              <a:rPr dirty="0"/>
              <a:t>. Normalization up to 3NF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381432"/>
            <a:ext cx="1060704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/>
              <a:t>UNF – Unnormalized Form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Library information may contain repeated details about books, authors, publishers, members, issues, and fines in a single record.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Repeated data can lead to data redundancy and inconsistency.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1NF – First Normal Form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Remove repeating groups.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Store each attribute as a single, atomic value.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Each record represents one specific entity/transaction.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2NF – Second Normal Form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Remove partial dependencies.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Separate information into related tables such as BOOK, MEMBER, AUTHOR, PUBLISHER, and ISSUE.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Non-key attributes depend on the complete primary key.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3NF – Third Normal Form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Remove transitive dependencies.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Store independent information in separate relations, such as CATEGORY, SUPPLIER, LIBRARIAN, and FINE.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Non-key attributes depend only on the primary key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655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8</a:t>
            </a:r>
            <a:r>
              <a:rPr dirty="0"/>
              <a:t>. SQL Implementation – DDL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10996"/>
            <a:ext cx="10607040" cy="5770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DDL Operations Implemented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CREATE DATABASE</a:t>
            </a:r>
            <a:r>
              <a:rPr lang="en-IN" dirty="0"/>
              <a:t> – Creates the </a:t>
            </a:r>
            <a:r>
              <a:rPr lang="en-IN" dirty="0" err="1">
                <a:latin typeface="Courier New" panose="02070309020205020404" pitchFamily="49" charset="0"/>
              </a:rPr>
              <a:t>LibraryDB</a:t>
            </a:r>
            <a:r>
              <a:rPr lang="en-IN" dirty="0"/>
              <a:t> database.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USE</a:t>
            </a:r>
            <a:r>
              <a:rPr lang="en-IN" dirty="0"/>
              <a:t> – Selects the </a:t>
            </a:r>
            <a:r>
              <a:rPr lang="en-IN" dirty="0" err="1">
                <a:latin typeface="Courier New" panose="02070309020205020404" pitchFamily="49" charset="0"/>
              </a:rPr>
              <a:t>LibraryDB</a:t>
            </a:r>
            <a:r>
              <a:rPr lang="en-IN" dirty="0"/>
              <a:t> database.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CREATE TABLE</a:t>
            </a:r>
            <a:r>
              <a:rPr lang="en-IN" dirty="0"/>
              <a:t> – Creates the 10 library tables.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PRIMARY KEY</a:t>
            </a:r>
            <a:r>
              <a:rPr lang="en-IN" dirty="0"/>
              <a:t> – Defines unique identifiers for each table.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FOREIGN KEY</a:t>
            </a:r>
            <a:r>
              <a:rPr lang="en-IN" dirty="0"/>
              <a:t> – Establishes relationships between related tables.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NOT NULL</a:t>
            </a:r>
            <a:r>
              <a:rPr lang="en-IN" dirty="0"/>
              <a:t> – Defines mandatory attributes.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UNIQUE</a:t>
            </a:r>
            <a:r>
              <a:rPr lang="en-IN" dirty="0"/>
              <a:t> – Prevents duplicate values.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CHECK</a:t>
            </a:r>
            <a:r>
              <a:rPr lang="en-IN" dirty="0"/>
              <a:t> – Validates numeric values such as quantity and fine amount.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DEFAULT</a:t>
            </a:r>
            <a:r>
              <a:rPr lang="en-IN" dirty="0"/>
              <a:t> – Provides default values for selected attributes.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ALTER TABLE</a:t>
            </a:r>
            <a:r>
              <a:rPr lang="en-IN" dirty="0"/>
              <a:t> – Modifies the </a:t>
            </a:r>
            <a:r>
              <a:rPr lang="en-IN" dirty="0">
                <a:latin typeface="Courier New" panose="02070309020205020404" pitchFamily="49" charset="0"/>
              </a:rPr>
              <a:t>Book</a:t>
            </a:r>
            <a:r>
              <a:rPr lang="en-IN" dirty="0"/>
              <a:t> table structure.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DESC</a:t>
            </a:r>
            <a:r>
              <a:rPr lang="en-IN" dirty="0"/>
              <a:t> – Displays the structure of the </a:t>
            </a:r>
            <a:r>
              <a:rPr lang="en-IN" dirty="0">
                <a:latin typeface="Courier New" panose="02070309020205020404" pitchFamily="49" charset="0"/>
              </a:rPr>
              <a:t>Book</a:t>
            </a:r>
            <a:r>
              <a:rPr lang="en-IN" dirty="0"/>
              <a:t> table.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SHOW TABLES</a:t>
            </a:r>
            <a:r>
              <a:rPr lang="en-IN" dirty="0"/>
              <a:t> – Displays all tables in the database.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4152"/>
            <a:ext cx="469750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9.</a:t>
            </a:r>
            <a:r>
              <a:rPr dirty="0"/>
              <a:t> SQL Implementation – DML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DML Operations Implemented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INSERT</a:t>
            </a:r>
            <a:r>
              <a:rPr lang="en-IN" dirty="0"/>
              <a:t> – Insert sample records into all 10 project tables.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UPDATE</a:t>
            </a:r>
            <a:r>
              <a:rPr lang="en-IN" dirty="0"/>
              <a:t> – Modify existing records.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DELETE</a:t>
            </a:r>
            <a:r>
              <a:rPr lang="en-IN" dirty="0"/>
              <a:t> – Delete eligible records while maintaining referential dependencies.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Insert </a:t>
            </a:r>
            <a:r>
              <a:rPr lang="en-IN" b="1" dirty="0"/>
              <a:t>parent-table records before child-table records</a:t>
            </a:r>
            <a:r>
              <a:rPr lang="en-IN" dirty="0"/>
              <a:t> to satisfy foreign-key constraints.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Use realistic sample data for meaningful project queries.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3873689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10</a:t>
            </a:r>
            <a:r>
              <a:rPr dirty="0"/>
              <a:t>. DQL – Data Retrieval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DQL Operations Used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SELECT</a:t>
            </a:r>
            <a:r>
              <a:rPr lang="en-IN" dirty="0"/>
              <a:t> – Retrieve data from tables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WHERE</a:t>
            </a:r>
            <a:r>
              <a:rPr lang="en-IN" dirty="0"/>
              <a:t> – Filter records based on conditions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ORDER BY</a:t>
            </a:r>
            <a:r>
              <a:rPr lang="en-IN" dirty="0"/>
              <a:t> – Sort records in ascending/descending order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DISTINCT</a:t>
            </a:r>
            <a:r>
              <a:rPr lang="en-IN" dirty="0"/>
              <a:t> – Display unique values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LIKE</a:t>
            </a:r>
            <a:r>
              <a:rPr lang="en-IN" dirty="0"/>
              <a:t> – Search books using a pattern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IS NOT NULL</a:t>
            </a:r>
            <a:r>
              <a:rPr lang="en-IN" dirty="0"/>
              <a:t> – Retrieve records having available values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JOIN</a:t>
            </a:r>
            <a:r>
              <a:rPr lang="en-IN" dirty="0"/>
              <a:t> – Retrieve related information from multiple tables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370806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1</a:t>
            </a:r>
            <a:r>
              <a:rPr dirty="0"/>
              <a:t>. SQL Queries – Joins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4939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Joins Implemented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Book + Author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Displays Book ID, Book Name and Author Name.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Book + Publisher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Displays Book ID, Book Name and Publisher Name.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Book + Category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Displays Book ID, Book Name and Category Name.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Issue + Book + Member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Displays Book Name, Member Name, Issue Date and Due Date.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IN" b="1" dirty="0"/>
              <a:t>Issue + Fine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lnSpc>
                <a:spcPct val="150000"/>
              </a:lnSpc>
              <a:buFont typeface="+mj-lt"/>
              <a:buAutoNum type="arabicPeriod"/>
            </a:pPr>
            <a:r>
              <a:rPr lang="en-IN" dirty="0"/>
              <a:t>Displays Issue ID, Book ID, Fine Amount and Payment Status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604146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2</a:t>
            </a:r>
            <a:r>
              <a:rPr dirty="0"/>
              <a:t>. SQL Queries – Aggregate Functions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480" y="1342103"/>
            <a:ext cx="10607040" cy="3677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Aggregate Functions Used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COUNT()</a:t>
            </a:r>
            <a:r>
              <a:rPr lang="en-IN" dirty="0"/>
              <a:t> – Counts the total number of books.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AVG()</a:t>
            </a:r>
            <a:r>
              <a:rPr lang="en-IN" dirty="0"/>
              <a:t> – Calculates the average book quantity.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MAX()</a:t>
            </a:r>
            <a:r>
              <a:rPr lang="en-IN" dirty="0"/>
              <a:t> – Finds the maximum book quantity.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MIN()</a:t>
            </a:r>
            <a:r>
              <a:rPr lang="en-IN" dirty="0"/>
              <a:t> – Finds the minimum book quantity.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SUM()</a:t>
            </a:r>
            <a:r>
              <a:rPr lang="en-IN" dirty="0"/>
              <a:t> – Calculates the total quantity of books.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GROUP BY</a:t>
            </a:r>
            <a:r>
              <a:rPr lang="en-IN" dirty="0"/>
              <a:t> – Groups books based on Category ID.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HAVING</a:t>
            </a:r>
            <a:r>
              <a:rPr lang="en-IN" dirty="0"/>
              <a:t> – Filters grouped results based on a condition.</a:t>
            </a:r>
            <a:endParaRPr lang="en-IN" dirty="0"/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343998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3</a:t>
            </a:r>
            <a:r>
              <a:rPr dirty="0"/>
              <a:t>. CRUD Operations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914400" y="1554480"/>
          <a:ext cx="103327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4240"/>
                <a:gridCol w="3444240"/>
                <a:gridCol w="3444240"/>
              </a:tblGrid>
              <a:tr h="566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Operation</a:t>
                      </a:r>
                      <a:endParaRPr lang="en-IN" dirty="0"/>
                    </a:p>
                  </a:txBody>
                  <a:tcPr anchor="ctr">
                    <a:solidFill>
                      <a:srgbClr val="182D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SQL Command</a:t>
                      </a:r>
                      <a:endParaRPr lang="en-IN"/>
                    </a:p>
                  </a:txBody>
                  <a:tcPr anchor="ctr">
                    <a:solidFill>
                      <a:srgbClr val="182D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Purpose</a:t>
                      </a:r>
                      <a:endParaRPr lang="en-IN"/>
                    </a:p>
                  </a:txBody>
                  <a:tcPr anchor="ctr">
                    <a:solidFill>
                      <a:srgbClr val="182D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C – Create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INSERT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Add a new book record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R – Read</a:t>
                      </a:r>
                      <a:endParaRPr lang="en-IN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SELECT</a:t>
                      </a:r>
                      <a:endParaRPr lang="en-IN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Retrieve book details</a:t>
                      </a:r>
                      <a:endParaRPr lang="en-IN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U – Update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UPDATE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Modify existing book information</a:t>
                      </a:r>
                      <a:endParaRPr lang="en-IN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D – Delete</a:t>
                      </a:r>
                      <a:endParaRPr lang="en-IN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>
                          <a:latin typeface="Courier New" panose="02070309020205020404" pitchFamily="49" charset="0"/>
                        </a:rPr>
                        <a:t>DELETE</a:t>
                      </a:r>
                      <a:endParaRPr lang="en-IN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Remove a book record</a:t>
                      </a:r>
                      <a:endParaRPr lang="en-IN" dirty="0"/>
                    </a:p>
                  </a:txBody>
                  <a:tcPr anchor="ctr">
                    <a:solidFill>
                      <a:srgbClr val="EFF5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14400" y="497722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CRUD Flow</a:t>
            </a:r>
            <a:endParaRPr lang="en-IN" b="1" dirty="0"/>
          </a:p>
          <a:p>
            <a:pPr>
              <a:buNone/>
            </a:pPr>
            <a:r>
              <a:rPr lang="en-IN" b="1" dirty="0"/>
              <a:t>CREATE → READ → UPDATE → DELETE</a:t>
            </a:r>
            <a:endParaRPr lang="en-IN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166007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4</a:t>
            </a:r>
            <a:r>
              <a:rPr dirty="0"/>
              <a:t>. Views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371600"/>
            <a:ext cx="10607040" cy="4108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en-IN" b="1" dirty="0"/>
              <a:t>View Used in Library Management System</a:t>
            </a:r>
            <a:endParaRPr lang="en-IN" b="1" dirty="0"/>
          </a:p>
          <a:p>
            <a:pPr algn="just">
              <a:lnSpc>
                <a:spcPct val="150000"/>
              </a:lnSpc>
              <a:buNone/>
            </a:pPr>
            <a:r>
              <a:rPr lang="en-IN" b="1" dirty="0"/>
              <a:t>View Name:</a:t>
            </a:r>
            <a:r>
              <a:rPr lang="en-IN" dirty="0"/>
              <a:t> </a:t>
            </a:r>
            <a:r>
              <a:rPr lang="en-IN" dirty="0" err="1">
                <a:latin typeface="Courier New" panose="02070309020205020404" pitchFamily="49" charset="0"/>
              </a:rPr>
              <a:t>Library_Book_View</a:t>
            </a:r>
            <a:endParaRPr lang="en-IN" dirty="0"/>
          </a:p>
          <a:p>
            <a:pPr algn="just">
              <a:lnSpc>
                <a:spcPct val="150000"/>
              </a:lnSpc>
              <a:buNone/>
            </a:pPr>
            <a:r>
              <a:rPr lang="en-IN" dirty="0"/>
              <a:t>The view is created to display frequently required information about books.</a:t>
            </a:r>
            <a:endParaRPr lang="en-IN" dirty="0"/>
          </a:p>
          <a:p>
            <a:pPr algn="just">
              <a:lnSpc>
                <a:spcPct val="150000"/>
              </a:lnSpc>
              <a:buNone/>
            </a:pPr>
            <a:r>
              <a:rPr lang="en-IN" b="1" dirty="0"/>
              <a:t>Information Included</a:t>
            </a:r>
            <a:endParaRPr lang="en-IN" b="1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Book ID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Book Name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ISBN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Quantity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Available Count</a:t>
            </a:r>
            <a:endParaRPr lang="en-IN" dirty="0"/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05" y="18288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74320"/>
            <a:ext cx="502560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5</a:t>
            </a:r>
            <a:r>
              <a:rPr dirty="0"/>
              <a:t>. Data Integrity and Validation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8594" y="1398282"/>
            <a:ext cx="8259097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Entity Integrity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Primary keys uniquely identify each record.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Example: </a:t>
            </a:r>
            <a:r>
              <a:rPr lang="en-IN" dirty="0" err="1"/>
              <a:t>Book_ID</a:t>
            </a:r>
            <a:r>
              <a:rPr lang="en-IN" dirty="0"/>
              <a:t>, </a:t>
            </a:r>
            <a:r>
              <a:rPr lang="en-IN" dirty="0" err="1"/>
              <a:t>Member_ID</a:t>
            </a:r>
            <a:r>
              <a:rPr lang="en-IN" dirty="0"/>
              <a:t>, </a:t>
            </a:r>
            <a:r>
              <a:rPr lang="en-IN" dirty="0" err="1"/>
              <a:t>Author_ID</a:t>
            </a:r>
            <a:r>
              <a:rPr lang="en-IN" dirty="0"/>
              <a:t>. </a:t>
            </a: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Referential Integrity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Foreign keys maintain relationships between related tables.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Example: </a:t>
            </a:r>
            <a:r>
              <a:rPr lang="en-IN" dirty="0" err="1"/>
              <a:t>Book.Author_ID</a:t>
            </a:r>
            <a:r>
              <a:rPr lang="en-IN" dirty="0"/>
              <a:t> references </a:t>
            </a:r>
            <a:r>
              <a:rPr lang="en-IN" dirty="0" err="1"/>
              <a:t>Author.Author_ID</a:t>
            </a:r>
            <a:r>
              <a:rPr lang="en-IN" dirty="0"/>
              <a:t>. </a:t>
            </a: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Uniqueness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UNIQUE constraints prevent duplicate values.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Applied to fields such as Email, ISBN and </a:t>
            </a:r>
            <a:r>
              <a:rPr lang="en-IN" dirty="0" err="1"/>
              <a:t>User_Name</a:t>
            </a:r>
            <a:r>
              <a:rPr lang="en-IN" dirty="0"/>
              <a:t>. </a:t>
            </a: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Mandatory Fields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NOT NULL ensures important information is provided.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Example: Book Name, Member Name and Issue details. </a:t>
            </a: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Domain Validation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CHECK constraints restrict invalid values.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Example: Quantity &gt;= 0, </a:t>
            </a:r>
            <a:r>
              <a:rPr lang="en-IN" dirty="0" err="1"/>
              <a:t>Available_Count</a:t>
            </a:r>
            <a:r>
              <a:rPr lang="en-IN" dirty="0"/>
              <a:t> &gt;= 0 and </a:t>
            </a:r>
            <a:r>
              <a:rPr lang="en-IN" dirty="0" err="1"/>
              <a:t>Fine_Amount</a:t>
            </a:r>
            <a:r>
              <a:rPr lang="en-IN" dirty="0"/>
              <a:t> &gt;= 0. </a:t>
            </a:r>
            <a:endParaRPr lang="en-IN" dirty="0"/>
          </a:p>
          <a:p>
            <a:pPr marL="285750" lvl="0" indent="-285750" algn="just">
              <a:buFont typeface="Arial" panose="020B0604020202020204" pitchFamily="34" charset="0"/>
              <a:buChar char="•"/>
            </a:pPr>
            <a:r>
              <a:rPr lang="en-IN" b="1" dirty="0"/>
              <a:t>Default Values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DEFAULT automatically provides values when required.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Example: Membership Date, Issue Date and Reservation Status.</a:t>
            </a:r>
            <a:endParaRPr lang="en-IN" dirty="0"/>
          </a:p>
          <a:p>
            <a:pPr marL="285750" indent="-285750">
              <a:spcAft>
                <a:spcPts val="900"/>
              </a:spcAft>
              <a:buFont typeface="Arial" panose="020B0604020202020204" pitchFamily="34" charset="0"/>
              <a:buChar char="•"/>
              <a:defRPr sz="1800">
                <a:solidFill>
                  <a:srgbClr val="232323"/>
                </a:solidFill>
                <a:latin typeface="Aptos"/>
              </a:defRPr>
            </a:pP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513621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6</a:t>
            </a:r>
            <a:r>
              <a:rPr dirty="0"/>
              <a:t>. SQL Output and Screenshots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</a:p>
        </p:txBody>
      </p:sp>
      <p:sp>
        <p:nvSpPr>
          <p:cNvPr id="8" name="TextBox 7"/>
          <p:cNvSpPr txBox="1"/>
          <p:nvPr/>
        </p:nvSpPr>
        <p:spPr>
          <a:xfrm>
            <a:off x="678426" y="1754491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Database and Table Creation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 err="1">
                <a:latin typeface="+mn-lt"/>
              </a:rPr>
              <a:t>LibraryDB</a:t>
            </a:r>
            <a:r>
              <a:rPr lang="en-IN" dirty="0"/>
              <a:t> database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10 tables created successfully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DDL Execution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Table structures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Primary keys, foreign keys and constraints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DML Execution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Inserted sample records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Updated records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Deleted reservation record</a:t>
            </a:r>
            <a:endParaRPr lang="en-IN" dirty="0"/>
          </a:p>
        </p:txBody>
      </p:sp>
      <p:sp>
        <p:nvSpPr>
          <p:cNvPr id="10" name="TextBox 9"/>
          <p:cNvSpPr txBox="1"/>
          <p:nvPr/>
        </p:nvSpPr>
        <p:spPr>
          <a:xfrm>
            <a:off x="6184491" y="1378101"/>
            <a:ext cx="60960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DQL Execution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Book retrieval and filtering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Sorting and searching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Issued book details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JOIN Queries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Book–Author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Book–Publisher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Book–Category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Issue–Member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Issue–Fine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Aggregate Queries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+mn-lt"/>
              </a:rPr>
              <a:t>COUNT()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AVG()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MAX()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MIN()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SUM()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>
                <a:latin typeface="+mn-lt"/>
              </a:rPr>
              <a:t>GROUP BY</a:t>
            </a:r>
            <a:r>
              <a:rPr lang="en-IN" dirty="0"/>
              <a:t> and </a:t>
            </a:r>
            <a:r>
              <a:rPr lang="en-IN" dirty="0">
                <a:latin typeface="+mn-lt"/>
              </a:rPr>
              <a:t>HAVING</a:t>
            </a:r>
            <a:r>
              <a:rPr lang="en-IN" dirty="0"/>
              <a:t>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CRUD Operations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/>
              <a:t>Create, Read, Update and Delete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b="1" dirty="0"/>
              <a:t>View</a:t>
            </a:r>
            <a:r>
              <a:rPr lang="en-IN" dirty="0"/>
              <a:t> </a:t>
            </a:r>
            <a:endParaRPr lang="en-IN" dirty="0"/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IN" dirty="0" err="1">
                <a:latin typeface="+mn-lt"/>
              </a:rPr>
              <a:t>Library_Book_View</a:t>
            </a:r>
            <a:r>
              <a:rPr lang="en-IN" dirty="0"/>
              <a:t> output</a:t>
            </a:r>
            <a:endParaRPr lang="en-IN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601100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7</a:t>
            </a:r>
            <a:r>
              <a:rPr dirty="0"/>
              <a:t>. Query Coverage for Demonstration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07476" y="6446520"/>
            <a:ext cx="322524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5F6973"/>
                </a:solidFill>
                <a:latin typeface="Aptos"/>
              </a:defRPr>
            </a:pPr>
            <a:r>
              <a:rPr dirty="0"/>
              <a:t>1</a:t>
            </a:r>
            <a:r>
              <a:rPr lang="en-US" dirty="0"/>
              <a:t>8</a:t>
            </a:r>
            <a:endParaRPr dirty="0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766916" y="1347018"/>
          <a:ext cx="10340560" cy="4902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0280"/>
                <a:gridCol w="5170280"/>
              </a:tblGrid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SQL Concept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Queries Covered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Basic SELECT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2+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Filtering – WHERE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2+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Sorting – ORDER BY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DISTINCT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LIKE Search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IS NOT NULL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JOIN Queries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5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Aggregate Functions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5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GROUP BY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HAVING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1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CRUD Operations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/>
                        <a:t>4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</a:tr>
              <a:tr h="377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/>
                        <a:t>Views</a:t>
                      </a:r>
                      <a:endParaRPr lang="en-IN" sz="1600"/>
                    </a:p>
                  </a:txBody>
                  <a:tcPr marL="83680" marR="83680" marT="41840" marB="41840"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sz="1600" dirty="0"/>
                        <a:t>1</a:t>
                      </a:r>
                      <a:endParaRPr lang="en-IN" sz="1600" dirty="0"/>
                    </a:p>
                  </a:txBody>
                  <a:tcPr marL="83680" marR="83680" marT="41840" marB="4184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880792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8</a:t>
            </a:r>
            <a:r>
              <a:rPr dirty="0"/>
              <a:t>. Live Database Demonstration – Recommended Order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</a:p>
        </p:txBody>
      </p:sp>
      <p:sp>
        <p:nvSpPr>
          <p:cNvPr id="11" name="TextBox 10"/>
          <p:cNvSpPr txBox="1"/>
          <p:nvPr/>
        </p:nvSpPr>
        <p:spPr>
          <a:xfrm>
            <a:off x="11245269" y="6446520"/>
            <a:ext cx="18473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just">
              <a:defRPr sz="1000">
                <a:solidFill>
                  <a:srgbClr val="5F6973"/>
                </a:solidFill>
                <a:latin typeface="Aptos"/>
              </a:defRPr>
            </a:pPr>
            <a:endParaRPr lang="en-US" dirty="0"/>
          </a:p>
          <a:p>
            <a:pPr algn="just">
              <a:defRPr sz="1000">
                <a:solidFill>
                  <a:srgbClr val="5F6973"/>
                </a:solidFill>
                <a:latin typeface="Aptos"/>
              </a:defRPr>
            </a:pP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12955" y="1228368"/>
            <a:ext cx="4857136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/>
              <a:t>1. Open Database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Select the </a:t>
            </a:r>
            <a:r>
              <a:rPr lang="en-IN" dirty="0" err="1">
                <a:latin typeface="+mn-lt"/>
              </a:rPr>
              <a:t>LibraryDB</a:t>
            </a:r>
            <a:r>
              <a:rPr lang="en-IN" dirty="0"/>
              <a:t> database.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Show the list of tables using </a:t>
            </a:r>
            <a:r>
              <a:rPr lang="en-IN" dirty="0">
                <a:latin typeface="+mn-lt"/>
              </a:rPr>
              <a:t>SHOW TABLES;</a:t>
            </a:r>
            <a:r>
              <a:rPr lang="en-IN" dirty="0"/>
              <a:t>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2. Show Table Structure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Display the structure of important tables using </a:t>
            </a:r>
            <a:r>
              <a:rPr lang="en-IN" dirty="0">
                <a:latin typeface="+mn-lt"/>
              </a:rPr>
              <a:t>DESC</a:t>
            </a:r>
            <a:r>
              <a:rPr lang="en-IN" dirty="0"/>
              <a:t>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Explain primary keys, foreign keys and constraints.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3. Show Sample Data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Display the records inserted into the tables.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Explain the relationships between the tables.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4. Demonstrate DDL &amp; DML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Show table creation and alteration. 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Demonstrate </a:t>
            </a:r>
            <a:r>
              <a:rPr lang="en-IN" dirty="0">
                <a:latin typeface="+mn-lt"/>
              </a:rPr>
              <a:t>INSERT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UPDATE</a:t>
            </a:r>
            <a:r>
              <a:rPr lang="en-IN" dirty="0"/>
              <a:t> and </a:t>
            </a:r>
            <a:r>
              <a:rPr lang="en-IN" dirty="0">
                <a:latin typeface="+mn-lt"/>
              </a:rPr>
              <a:t>DELETE</a:t>
            </a:r>
            <a:r>
              <a:rPr lang="en-IN" dirty="0"/>
              <a:t>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5. Demonstrate DQL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Execute </a:t>
            </a:r>
            <a:r>
              <a:rPr lang="en-IN" dirty="0">
                <a:latin typeface="+mn-lt"/>
              </a:rPr>
              <a:t>SELECT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WHERE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ORDER BY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DISTINCT</a:t>
            </a:r>
            <a:r>
              <a:rPr lang="en-IN" dirty="0"/>
              <a:t> and </a:t>
            </a:r>
            <a:r>
              <a:rPr lang="en-IN" dirty="0">
                <a:latin typeface="+mn-lt"/>
              </a:rPr>
              <a:t>LIKE</a:t>
            </a:r>
            <a:r>
              <a:rPr lang="en-IN" dirty="0"/>
              <a:t> queries.</a:t>
            </a:r>
            <a:endParaRPr lang="en-IN" dirty="0"/>
          </a:p>
        </p:txBody>
      </p:sp>
      <p:sp>
        <p:nvSpPr>
          <p:cNvPr id="8" name="TextBox 7"/>
          <p:cNvSpPr txBox="1"/>
          <p:nvPr/>
        </p:nvSpPr>
        <p:spPr>
          <a:xfrm>
            <a:off x="6292645" y="1801811"/>
            <a:ext cx="5486400" cy="4654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/>
              <a:t>6. Demonstrate JOIN Queries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Show how related information is retrieved from multiple tables.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7. Demonstrate Aggregate Functions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Execute </a:t>
            </a:r>
            <a:r>
              <a:rPr lang="en-IN" dirty="0">
                <a:latin typeface="+mn-lt"/>
              </a:rPr>
              <a:t>COUNT()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AVG()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MAX()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MIN()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SUM()</a:t>
            </a:r>
            <a:r>
              <a:rPr lang="en-IN" dirty="0"/>
              <a:t>, </a:t>
            </a:r>
            <a:r>
              <a:rPr lang="en-IN" dirty="0">
                <a:latin typeface="+mn-lt"/>
              </a:rPr>
              <a:t>GROUP BY</a:t>
            </a:r>
            <a:r>
              <a:rPr lang="en-IN" dirty="0"/>
              <a:t> and </a:t>
            </a:r>
            <a:r>
              <a:rPr lang="en-IN" dirty="0">
                <a:latin typeface="+mn-lt"/>
              </a:rPr>
              <a:t>HAVING</a:t>
            </a:r>
            <a:r>
              <a:rPr lang="en-IN" dirty="0"/>
              <a:t>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8. Demonstrate CRUD Operations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Show Create, Read, Update and Delete operations.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9. Demonstrate View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Display the </a:t>
            </a:r>
            <a:r>
              <a:rPr lang="en-IN" dirty="0" err="1">
                <a:latin typeface="+mn-lt"/>
              </a:rPr>
              <a:t>Library_Book_View</a:t>
            </a:r>
            <a:r>
              <a:rPr lang="en-IN" dirty="0"/>
              <a:t> and retrieve its data. </a:t>
            </a:r>
            <a:endParaRPr lang="en-IN" dirty="0"/>
          </a:p>
          <a:p>
            <a:pPr algn="just">
              <a:buNone/>
            </a:pPr>
            <a:r>
              <a:rPr lang="en-IN" b="1" dirty="0"/>
              <a:t>10. Conclude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Explain how the implemented database supports the requirements of the Library Management System.</a:t>
            </a:r>
            <a:endParaRPr lang="en-IN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2476960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1</a:t>
            </a:r>
            <a:r>
              <a:rPr lang="en-US" dirty="0"/>
              <a:t>9</a:t>
            </a:r>
            <a:r>
              <a:rPr dirty="0"/>
              <a:t>. Conclusion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4465" y="1479853"/>
            <a:ext cx="8819535" cy="5038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</a:t>
            </a:r>
            <a:r>
              <a:rPr lang="en-IN" b="1" dirty="0"/>
              <a:t>Library Management System</a:t>
            </a:r>
            <a:r>
              <a:rPr lang="en-IN" dirty="0"/>
              <a:t> was successfully implemented using a </a:t>
            </a:r>
            <a:r>
              <a:rPr lang="en-IN" b="1" dirty="0"/>
              <a:t>relational database approach</a:t>
            </a:r>
            <a:r>
              <a:rPr lang="en-IN" dirty="0"/>
              <a:t>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database consists of </a:t>
            </a:r>
            <a:r>
              <a:rPr lang="en-IN" b="1" dirty="0"/>
              <a:t>10 related tables</a:t>
            </a:r>
            <a:r>
              <a:rPr lang="en-IN" dirty="0"/>
              <a:t> representing books, authors, publishers, categories, suppliers, members, librarians, issues, fines and reservations.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Primary keys, foreign keys and integrity constraints</a:t>
            </a:r>
            <a:r>
              <a:rPr lang="en-IN" dirty="0"/>
              <a:t> are used to maintain accurate and consistent data.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SQL concepts including </a:t>
            </a:r>
            <a:r>
              <a:rPr lang="en-IN" b="1" dirty="0"/>
              <a:t>DDL, DML, DQL, JOINs, aggregate functions, CRUD operations and Views</a:t>
            </a:r>
            <a:r>
              <a:rPr lang="en-IN" dirty="0"/>
              <a:t> were implemented.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database supports efficient </a:t>
            </a:r>
            <a:r>
              <a:rPr lang="en-IN" b="1" dirty="0"/>
              <a:t>data storage, retrieval and management</a:t>
            </a:r>
            <a:r>
              <a:rPr lang="en-IN" dirty="0"/>
              <a:t> of library information. </a:t>
            </a:r>
            <a:endParaRPr lang="en-IN" dirty="0"/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implementation provides a strong database foundation for further development of the Library Management System.</a:t>
            </a:r>
            <a:endParaRPr lang="en-IN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08772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US" dirty="0"/>
              <a:t>20.</a:t>
            </a:r>
            <a:r>
              <a:rPr dirty="0"/>
              <a:t> Future Enhancements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1275588"/>
          <a:ext cx="10683240" cy="49168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1620"/>
                <a:gridCol w="5341620"/>
              </a:tblGrid>
              <a:tr h="3933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Enhancement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Description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Online Book Reservation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Allow members to reserve books through an online interface.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Automated Notifications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Send reminders for due dates, overdue books and reservations.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3933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Fine and Payment Management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Improve tracking of fines and payment status.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Reports and Analytics</a:t>
                      </a:r>
                      <a:endParaRPr lang="en-IN" sz="1700" dirty="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Generate reports for books, members, issues, fines and reservations.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User Authentication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Provide role-based access for librarians, members and administrators.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Backup and Security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Improve database backup, recovery and security mechanisms.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</a:tr>
              <a:tr h="6883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/>
                        <a:t>Web/Mobile Application</a:t>
                      </a:r>
                      <a:endParaRPr lang="en-IN" sz="1700"/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dirty="0"/>
                        <a:t>Integrate the database with a user-friendly web or mobile application.</a:t>
                      </a:r>
                      <a:endParaRPr lang="en-IN" sz="1700" dirty="0"/>
                    </a:p>
                  </a:txBody>
                  <a:tcPr marL="87027" marR="87027" marT="43513" marB="43513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7419" y="36765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lang="en-IN" sz="2800" dirty="0"/>
              <a:t>21. References</a:t>
            </a:r>
            <a:endParaRPr lang="en-IN" sz="2800" dirty="0"/>
          </a:p>
        </p:txBody>
      </p:sp>
      <p:sp>
        <p:nvSpPr>
          <p:cNvPr id="5" name="Rectangle 4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1445" y="1331118"/>
            <a:ext cx="10677831" cy="27877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Korth, H. F., Silberschatz, A., and Sudarshan, S., Database System Concepts, McGraw Hill.</a:t>
            </a:r>
            <a:endParaRPr lang="en-IN" dirty="0"/>
          </a:p>
          <a:p>
            <a:pPr marL="285750" lvl="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Elmasri, R. and Navathe, S. B., Fundamentals of Database Systems, Pearson.</a:t>
            </a:r>
            <a:endParaRPr lang="en-IN" dirty="0"/>
          </a:p>
          <a:p>
            <a:pPr marL="285750" lvl="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dirty="0"/>
              <a:t>MySQL 8.0 Reference Manual, Oracle Corporation. </a:t>
            </a:r>
            <a:endParaRPr lang="en-IN" dirty="0"/>
          </a:p>
          <a:p>
            <a:pPr marL="285750" lvl="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IN" b="1" dirty="0"/>
              <a:t>Draw.io</a:t>
            </a:r>
            <a:r>
              <a:rPr lang="en-IN" dirty="0"/>
              <a:t>, Online Diagramming ,Schema Diagram and ER Diagram Design Tool, diagrams.net.</a:t>
            </a:r>
            <a:endParaRPr lang="en-IN" dirty="0"/>
          </a:p>
          <a:p>
            <a:pPr>
              <a:lnSpc>
                <a:spcPct val="200000"/>
              </a:lnSpc>
            </a:pPr>
            <a:endParaRPr lang="en-IN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74320"/>
            <a:ext cx="4186467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D4A"/>
                </a:solidFill>
                <a:latin typeface="Aptos Display"/>
              </a:defRPr>
            </a:pPr>
            <a:r>
              <a:rPr dirty="0"/>
              <a:t>2</a:t>
            </a:r>
            <a:r>
              <a:rPr lang="en-US" dirty="0"/>
              <a:t>2</a:t>
            </a:r>
            <a:r>
              <a:rPr dirty="0"/>
              <a:t>. Final Review Checklist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594360" y="1078992"/>
            <a:ext cx="10972800" cy="32004"/>
          </a:xfrm>
          <a:prstGeom prst="rect">
            <a:avLst/>
          </a:prstGeom>
          <a:solidFill>
            <a:srgbClr val="275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806244" y="1220724"/>
          <a:ext cx="10301232" cy="5362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50616"/>
                <a:gridCol w="5150616"/>
              </a:tblGrid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Review Area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What students must demonstrate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Database Design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Title, problem statement, objectives, ER diagram, relational schema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Implementation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LibraryDB database and all 10 project tables created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Constraints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PK, FK, NOT NULL, UNIQUE, CHECK, DEFAULT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Sample Data</a:t>
                      </a:r>
                      <a:endParaRPr lang="en-IN" sz="1300" dirty="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All tables populated with sample records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SQL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DDL, DML and DQL demonstrated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CRUD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Create, Read, Update and Delete demonstrated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Queries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Joins, aggregate functions, GROUP BY / HAVING, View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3249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Normalization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UNF → 1NF → 2NF → 3NF explained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Integrity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Primary key, foreign key, uniqueness and valid-value constraints demonstrated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Documentation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ER diagram, schema, SQL, outputs and screenshots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</a:tr>
              <a:tr h="568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/>
                        <a:t>Presentation</a:t>
                      </a:r>
                      <a:endParaRPr lang="en-IN" sz="1300"/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/>
                        <a:t>Working Library Management System demonstrated live</a:t>
                      </a:r>
                      <a:endParaRPr lang="en-IN" sz="1300" dirty="0"/>
                    </a:p>
                  </a:txBody>
                  <a:tcPr marL="65929" marR="65929" marT="32965" marB="32965" anchor="ctr"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11910</Words>
  <Application>WPS Presentation</Application>
  <PresentationFormat>Widescreen</PresentationFormat>
  <Paragraphs>572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41" baseType="lpstr">
      <vt:lpstr>Arial</vt:lpstr>
      <vt:lpstr>SimSun</vt:lpstr>
      <vt:lpstr>Wingdings</vt:lpstr>
      <vt:lpstr>Times New Roman</vt:lpstr>
      <vt:lpstr>Times New Roman</vt:lpstr>
      <vt:lpstr>Arial</vt:lpstr>
      <vt:lpstr>Glegoo</vt:lpstr>
      <vt:lpstr>Segoe Print</vt:lpstr>
      <vt:lpstr>Aptos Display</vt:lpstr>
      <vt:lpstr>Segoe UI Variable Display</vt:lpstr>
      <vt:lpstr>Aptos</vt:lpstr>
      <vt:lpstr>Courier New</vt:lpstr>
      <vt:lpstr>Segoe UI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Surya Vamsi Pasumarthi</dc:creator>
  <cp:lastModifiedBy>Vamsi Vamsi888</cp:lastModifiedBy>
  <cp:revision>9</cp:revision>
  <dcterms:created xsi:type="dcterms:W3CDTF">2026-09-25T08:34:00Z</dcterms:created>
  <dcterms:modified xsi:type="dcterms:W3CDTF">2026-10-06T09:51:32Z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0ACBE0E396EB42438D38A1ABF822A4DF_12</vt:lpwstr>
  </property>
  <property fmtid="{D5CDD505-2E9C-101B-9397-08002B2CF9AE}" pid="3" name="KSOProductBuildVer">
    <vt:lpwstr>1033-12.1.0.28485</vt:lpwstr>
  </property>
</Properties>
</file>