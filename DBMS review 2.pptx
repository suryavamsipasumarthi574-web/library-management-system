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8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6C2F-FAC3-93CE-EF7D-950021155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D0A09-D3A9-1588-9C05-E96CD85F4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7588E-8E87-EEF0-C8DC-772A07DA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3881-E732-90AA-5E63-8A6E7926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82F7-FA0C-DD58-4A5F-71D248AD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2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C0CB-9A62-B352-3B23-E57D90CF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C0744-5A6F-A3B5-7642-9FAB6180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96C0-2296-8A3B-7D7B-7D7DABD8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4423-3750-F1C8-40B6-DC74FB73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FF061-808C-6F8C-3673-4C0C484A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7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F4B0-C452-CCBD-6B74-383289AC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A65D2-8992-C3CE-053E-B5C6E297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04979-3673-9CBF-7C43-642FC77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A44B-6A75-2FB3-427C-0E272C8C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114B-6FEB-4DBE-C425-0913671B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195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1CB4-7B20-639C-DB8A-89CCF25F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E3EDC-7264-D1CC-4387-C186306D3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AD72F-4050-4E17-8E6E-78DE2A909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14EC4-C1B8-F5F0-C5D7-B7AFD942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B6743-5963-1D7A-F6B4-5FE6D93F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585F2-B33C-4764-792A-994BAB5B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70A1-5F99-83D9-B36C-7335EE32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FBD3E-0BC3-FDF9-86FF-691AC344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0B258-F875-B880-8137-BA887DDD8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56E4D-8E4D-F4F6-B722-1AA19C65F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FE548-B17B-FAF4-1D79-358CB2D1D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5D931-2229-807D-4556-32EB1A4E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C84FB-80A2-FAA3-EA93-02152DE9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4CA85-F6D0-B40B-7A68-1F9D0088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08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3D4B-C60D-FDEC-708B-66A47408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D6703-963F-BDA9-9FD4-D20B8463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37AF8-F4A7-E220-BCCA-754CBAE9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880B6-9950-4C6B-D78F-774A42FE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B9A83-7A36-7F6D-1871-40004C26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9D4BE-E2CF-2935-54DF-5879AB8C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70FFD-F1D6-1686-5A38-9CD4ABDA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42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D974-7545-207C-75F3-A4EBED5E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058F7-97BA-41EA-1461-F86BED202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F4EB9-5A66-23D8-D9FD-8378236A1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20EDC-F107-4E52-B614-26184025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77C71-E138-D741-77C7-3391C743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38325-1E7B-D72C-4A56-A2F832D0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5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BC81-2FDD-7E40-C7EE-AE3BC2FE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76F494-A101-FB73-5483-E14AF56F5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FE764-03DA-AFC3-066B-5FB29F196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CCB5-397F-9D21-C757-F07E1AEC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6698C-D38F-787E-EF1B-E5EA4406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E4508-BC35-8DA4-E82F-0647B519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66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B62E-BC10-E591-1E0A-0FB5EA93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D93F5-EFD8-DA3C-33F1-AFFE16796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E096A-86D1-DAC3-F6C0-0B38F105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290B2-971C-7F4C-9C00-7B5840CD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40E6-7DAB-9ADE-1A01-260086FE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C53C7-FE72-341C-1B6B-CF2A075BE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70BD0-A9AE-35F6-FC0A-C9D5A1A69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3099A-62CF-72CC-C164-EEFAEB10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8A55-1B43-E6F6-C4C1-87539A0A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50D82-B972-CF94-D4D3-51DB649D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9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EEEB5-42BA-6121-C8F1-718FF1E3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E1101-8FCF-CBA2-D224-AA8B5EB67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F9359-B785-F66B-9067-DBEE8C17C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ABF69-7249-46F6-8F49-9CF764FB144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C7D-D0D8-1AFE-F728-B2496EB78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4400-3B1D-3865-1CCD-E027EEED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03BAB-BD5E-432F-9EB5-FAED4B3AF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99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5;p1">
            <a:extLst>
              <a:ext uri="{FF2B5EF4-FFF2-40B4-BE49-F238E27FC236}">
                <a16:creationId xmlns:a16="http://schemas.microsoft.com/office/drawing/2014/main" id="{7B2ACB0F-401A-E41A-2D86-499184ECAFEB}"/>
              </a:ext>
            </a:extLst>
          </p:cNvPr>
          <p:cNvSpPr txBox="1"/>
          <p:nvPr/>
        </p:nvSpPr>
        <p:spPr>
          <a:xfrm>
            <a:off x="1040202" y="935443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" name="Google Shape;37;p1">
            <a:extLst>
              <a:ext uri="{FF2B5EF4-FFF2-40B4-BE49-F238E27FC236}">
                <a16:creationId xmlns:a16="http://schemas.microsoft.com/office/drawing/2014/main" id="{AD206F7B-B681-BCA9-2C1A-3171E8F4F4B2}"/>
              </a:ext>
            </a:extLst>
          </p:cNvPr>
          <p:cNvSpPr/>
          <p:nvPr/>
        </p:nvSpPr>
        <p:spPr>
          <a:xfrm>
            <a:off x="151632" y="3399642"/>
            <a:ext cx="601319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25B11AI401-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HARIJANA VAMSI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25B11AI905- </a:t>
            </a:r>
            <a:r>
              <a:rPr lang="en-US" altLang="en-US" sz="18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PASUMARTHI SURYA VAMSI</a:t>
            </a:r>
            <a:r>
              <a:rPr lang="en-US" sz="1800" dirty="0">
                <a:latin typeface="Times New Roman" panose="02020603050405020304" pitchFamily="18" charset="0"/>
                <a:ea typeface="Glegoo"/>
                <a:cs typeface="Times New Roman" panose="02020603050405020304" pitchFamily="18" charset="0"/>
                <a:sym typeface="Glegoo"/>
              </a:rPr>
              <a:t> 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7" name="Google Shape;38;p1">
            <a:extLst>
              <a:ext uri="{FF2B5EF4-FFF2-40B4-BE49-F238E27FC236}">
                <a16:creationId xmlns:a16="http://schemas.microsoft.com/office/drawing/2014/main" id="{9D1EEE41-3890-835C-DD40-0C467CAD52D8}"/>
              </a:ext>
            </a:extLst>
          </p:cNvPr>
          <p:cNvSpPr txBox="1"/>
          <p:nvPr/>
        </p:nvSpPr>
        <p:spPr>
          <a:xfrm>
            <a:off x="510209" y="-133157"/>
            <a:ext cx="1117158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</p:txBody>
      </p:sp>
      <p:sp>
        <p:nvSpPr>
          <p:cNvPr id="9" name="Google Shape;39;p1">
            <a:extLst>
              <a:ext uri="{FF2B5EF4-FFF2-40B4-BE49-F238E27FC236}">
                <a16:creationId xmlns:a16="http://schemas.microsoft.com/office/drawing/2014/main" id="{DE30B115-61AF-78E3-5D42-FFD8A3B21F18}"/>
              </a:ext>
            </a:extLst>
          </p:cNvPr>
          <p:cNvSpPr/>
          <p:nvPr/>
        </p:nvSpPr>
        <p:spPr>
          <a:xfrm>
            <a:off x="3417317" y="5183913"/>
            <a:ext cx="550954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Under esteemed guidance of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Dr P Kishorekumar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University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1" name="Google Shape;40;p1">
            <a:extLst>
              <a:ext uri="{FF2B5EF4-FFF2-40B4-BE49-F238E27FC236}">
                <a16:creationId xmlns:a16="http://schemas.microsoft.com/office/drawing/2014/main" id="{2938A669-0FE4-67D1-68EE-94F0DEED0E1F}"/>
              </a:ext>
            </a:extLst>
          </p:cNvPr>
          <p:cNvSpPr txBox="1"/>
          <p:nvPr/>
        </p:nvSpPr>
        <p:spPr>
          <a:xfrm>
            <a:off x="3048719" y="1822401"/>
            <a:ext cx="6094562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BATCH NUMBER:17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C55A1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BE0F6-2B6D-73C2-3F34-895E9EBC304C}"/>
              </a:ext>
            </a:extLst>
          </p:cNvPr>
          <p:cNvSpPr txBox="1"/>
          <p:nvPr/>
        </p:nvSpPr>
        <p:spPr>
          <a:xfrm>
            <a:off x="6403746" y="3338423"/>
            <a:ext cx="567229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25B21AIC24     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UNNAM NAGARJUNA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25B21AI054     -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ARABOLU RAMBABU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Google Shape;38;p1">
            <a:extLst>
              <a:ext uri="{FF2B5EF4-FFF2-40B4-BE49-F238E27FC236}">
                <a16:creationId xmlns:a16="http://schemas.microsoft.com/office/drawing/2014/main" id="{7E8CA4BE-D073-6855-6531-F5C241A5F6BF}"/>
              </a:ext>
            </a:extLst>
          </p:cNvPr>
          <p:cNvSpPr txBox="1"/>
          <p:nvPr/>
        </p:nvSpPr>
        <p:spPr>
          <a:xfrm>
            <a:off x="747694" y="707054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Capstone Project review -2</a:t>
            </a:r>
            <a:endParaRPr lang="en-US" sz="24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60A8FC-7A3E-250D-AB64-18DF5F7498A6}"/>
              </a:ext>
            </a:extLst>
          </p:cNvPr>
          <p:cNvSpPr txBox="1"/>
          <p:nvPr/>
        </p:nvSpPr>
        <p:spPr>
          <a:xfrm>
            <a:off x="5216086" y="2647223"/>
            <a:ext cx="175982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</a:t>
            </a:r>
            <a:r>
              <a:rPr lang="en-US" sz="1800" b="1" dirty="0">
                <a:solidFill>
                  <a:schemeClr val="dk1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</a:t>
            </a:r>
            <a:r>
              <a:rPr lang="en-US" sz="1800" dirty="0">
                <a:solidFill>
                  <a:schemeClr val="dk1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endParaRPr lang="en-US" sz="1800" dirty="0"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F6E721-0907-8DC7-2D45-0A1A82D1D858}"/>
              </a:ext>
            </a:extLst>
          </p:cNvPr>
          <p:cNvSpPr txBox="1"/>
          <p:nvPr/>
        </p:nvSpPr>
        <p:spPr>
          <a:xfrm>
            <a:off x="3048719" y="4547312"/>
            <a:ext cx="6246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Academic Year: 2026-2027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8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D7417F-517C-5F15-4915-535060F05A1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21072-6BBD-4E6C-11F4-85499D6CCA16}"/>
              </a:ext>
            </a:extLst>
          </p:cNvPr>
          <p:cNvSpPr txBox="1"/>
          <p:nvPr/>
        </p:nvSpPr>
        <p:spPr>
          <a:xfrm>
            <a:off x="594360" y="284152"/>
            <a:ext cx="32632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CE8ECC-647D-BACE-87A4-775359D3B8E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2D74A-E4AC-8182-FF3E-5632AF7474EB}"/>
              </a:ext>
            </a:extLst>
          </p:cNvPr>
          <p:cNvSpPr txBox="1"/>
          <p:nvPr/>
        </p:nvSpPr>
        <p:spPr>
          <a:xfrm>
            <a:off x="822960" y="1371600"/>
            <a:ext cx="1060704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is a centralized relational database designed to manage library information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information about books, authors, categories, publishers, members, librarians, suppliers, issue records, fines, and reservations.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connects these entities through Primary Keys and Foreign Keys.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efficient management of book availability, issue and return transactions, reservations, and fine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design helps reduce data duplication, maintain data integrity, and enable efficient SQL-based retrieval.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56F77E-67D8-1D80-09A7-7680767E8FE9}"/>
              </a:ext>
            </a:extLst>
          </p:cNvPr>
          <p:cNvSpPr/>
          <p:nvPr/>
        </p:nvSpPr>
        <p:spPr>
          <a:xfrm>
            <a:off x="0" y="0"/>
            <a:ext cx="12191695" cy="56230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2F68F-5077-F12D-D9E1-B5D33C5CAB7F}"/>
              </a:ext>
            </a:extLst>
          </p:cNvPr>
          <p:cNvSpPr txBox="1"/>
          <p:nvPr/>
        </p:nvSpPr>
        <p:spPr>
          <a:xfrm>
            <a:off x="594360" y="284152"/>
            <a:ext cx="63060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Existing System and Proposed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0CE11-B1FE-66B9-E9EF-A230BEA891D9}"/>
              </a:ext>
            </a:extLst>
          </p:cNvPr>
          <p:cNvSpPr/>
          <p:nvPr/>
        </p:nvSpPr>
        <p:spPr>
          <a:xfrm>
            <a:off x="594360" y="1078991"/>
            <a:ext cx="10972800" cy="45719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DD5322-C901-26E0-D5E7-EDFFA240A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513045"/>
              </p:ext>
            </p:extLst>
          </p:nvPr>
        </p:nvGraphicFramePr>
        <p:xfrm>
          <a:off x="640080" y="1397656"/>
          <a:ext cx="10881360" cy="4751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Database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maintenance of library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relational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820719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and member details maintained separately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tables with defined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750157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duplication may occur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Keys and Foreign Keys maintain data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554500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 book/member information is time-consuming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queries enable quick data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019033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track issued and returned books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 and return records are systematically maintained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520652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 and reservation details may be difficult to manage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Dedicated Fine and Reservation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301028"/>
                  </a:ext>
                </a:extLst>
              </a:tr>
              <a:tr h="587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generation is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Joins, aggregate functions and SQL queries support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1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A515EA-5F3A-3083-5826-E0A0BED3A56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1CE90-A9E9-1D4E-024F-11F8331D3BF1}"/>
              </a:ext>
            </a:extLst>
          </p:cNvPr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3. Functional Requirements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351D4-D1A7-8FAF-9732-624636643903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D3448-44E3-1EB7-8D2C-A3D39A0CF479}"/>
              </a:ext>
            </a:extLst>
          </p:cNvPr>
          <p:cNvSpPr txBox="1"/>
          <p:nvPr/>
        </p:nvSpPr>
        <p:spPr>
          <a:xfrm>
            <a:off x="822960" y="1381432"/>
            <a:ext cx="10607040" cy="501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Book Management</a:t>
            </a:r>
            <a:r>
              <a:rPr lang="en-IN" dirty="0"/>
              <a:t> – Add, update, search, and display book details.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Member Management</a:t>
            </a:r>
            <a:r>
              <a:rPr lang="en-IN" dirty="0"/>
              <a:t> – Store and maintain library member information.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Author Management</a:t>
            </a:r>
            <a:r>
              <a:rPr lang="en-IN" dirty="0"/>
              <a:t> – Maintain author details and associate authors with books.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Publisher Management</a:t>
            </a:r>
            <a:r>
              <a:rPr lang="en-IN" dirty="0"/>
              <a:t> – Store publisher information and associate publishers with books.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Category Management</a:t>
            </a:r>
            <a:r>
              <a:rPr lang="en-IN" dirty="0"/>
              <a:t> – Maintain book categories and descriptions.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Librarian Management</a:t>
            </a:r>
            <a:r>
              <a:rPr lang="en-IN" dirty="0"/>
              <a:t> – Store librarian details and manage library transactions.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Issue &amp; Return Management</a:t>
            </a:r>
            <a:r>
              <a:rPr lang="en-IN" dirty="0"/>
              <a:t> – Record book issue, due date, and return details.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Fine Management</a:t>
            </a:r>
            <a:r>
              <a:rPr lang="en-IN" dirty="0"/>
              <a:t> – Maintain fine amount, payment status, and payment date.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Reservation Management</a:t>
            </a:r>
            <a:r>
              <a:rPr lang="en-IN" dirty="0"/>
              <a:t> – Record and manage book reservations made by members.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Supplier Management</a:t>
            </a:r>
            <a:r>
              <a:rPr lang="en-IN" dirty="0"/>
              <a:t> – Maintain supplier details for books.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Search and Reporting</a:t>
            </a:r>
            <a:r>
              <a:rPr lang="en-IN" dirty="0"/>
              <a:t> – Retrieve useful library information using SQL queries.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688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DC8427-B4B0-02B0-2476-8F6F3E6B509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68CC2-5ACF-AB68-BCC9-D862A9C4B0FF}"/>
              </a:ext>
            </a:extLst>
          </p:cNvPr>
          <p:cNvSpPr txBox="1"/>
          <p:nvPr/>
        </p:nvSpPr>
        <p:spPr>
          <a:xfrm>
            <a:off x="594360" y="274320"/>
            <a:ext cx="25510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4</a:t>
            </a:r>
            <a:r>
              <a:rPr dirty="0"/>
              <a:t>. </a:t>
            </a:r>
            <a:r>
              <a:rPr lang="en-US" dirty="0"/>
              <a:t>ER DIAGRAM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0BBA9-6D8B-0E54-8250-3BC52176E511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C0BF9-C59E-298D-59FA-237F9A688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22" y="1588007"/>
            <a:ext cx="11038895" cy="48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5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55663D-E48F-4635-C605-F84BC4D992B4}"/>
              </a:ext>
            </a:extLst>
          </p:cNvPr>
          <p:cNvSpPr/>
          <p:nvPr/>
        </p:nvSpPr>
        <p:spPr>
          <a:xfrm>
            <a:off x="0" y="1730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9AC26-1326-088F-AB95-18C2EAE8C25C}"/>
              </a:ext>
            </a:extLst>
          </p:cNvPr>
          <p:cNvSpPr txBox="1"/>
          <p:nvPr/>
        </p:nvSpPr>
        <p:spPr>
          <a:xfrm>
            <a:off x="594360" y="274320"/>
            <a:ext cx="71833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Database Schema Used for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AA824-7EC1-A721-2791-FBE94E18490D}"/>
              </a:ext>
            </a:extLst>
          </p:cNvPr>
          <p:cNvSpPr/>
          <p:nvPr/>
        </p:nvSpPr>
        <p:spPr>
          <a:xfrm>
            <a:off x="594360" y="985340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4A301A-EB68-EA87-C9F2-5959A624D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274558"/>
              </p:ext>
            </p:extLst>
          </p:nvPr>
        </p:nvGraphicFramePr>
        <p:xfrm>
          <a:off x="762000" y="1249483"/>
          <a:ext cx="10515600" cy="541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Table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Primary Key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607897"/>
                  </a:ext>
                </a:extLst>
              </a:tr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PUBLISHER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Publisher_ID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035120"/>
                  </a:ext>
                </a:extLst>
              </a:tr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959150"/>
                  </a:ext>
                </a:extLst>
              </a:tr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SUPPLIER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Supplier_ID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95483"/>
                  </a:ext>
                </a:extLst>
              </a:tr>
              <a:tr h="615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BOOK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Author_ID, Publisher_ID, Category_ID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20813"/>
                  </a:ext>
                </a:extLst>
              </a:tr>
              <a:tr h="50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MEMBER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LIBRARIAN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Librarian_ID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ISSUE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Book_ID, Member_ID, Librarian_ID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RESERVATION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Reservation_ID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Book_ID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Member_ID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94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DC5B5E-08A0-3187-3C78-F5F74031AE5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90C9A-650D-BAA2-30D7-36E01EEC286E}"/>
              </a:ext>
            </a:extLst>
          </p:cNvPr>
          <p:cNvSpPr txBox="1"/>
          <p:nvPr/>
        </p:nvSpPr>
        <p:spPr>
          <a:xfrm>
            <a:off x="594360" y="274320"/>
            <a:ext cx="49619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6</a:t>
            </a:r>
            <a:r>
              <a:rPr dirty="0"/>
              <a:t>. Table Design and Constraints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A12884-6ABC-5C55-C94A-74226BA6BD0D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B5F44E-3B85-01ED-987D-B8ABFC29C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68389"/>
              </p:ext>
            </p:extLst>
          </p:nvPr>
        </p:nvGraphicFramePr>
        <p:xfrm>
          <a:off x="502920" y="1345543"/>
          <a:ext cx="11155680" cy="4819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Table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/ Validation Rules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Author_ID; Author_Name, Email, 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PUBLISHER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Publisher_ID; Publisher_Name, Email, Phone,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Category_ID; Category_Name,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SUPPLIER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PK: </a:t>
                      </a:r>
                      <a:r>
                        <a:rPr lang="en-IN" dirty="0" err="1"/>
                        <a:t>Supplier_ID</a:t>
                      </a:r>
                      <a:r>
                        <a:rPr lang="en-IN" dirty="0"/>
                        <a:t>; </a:t>
                      </a:r>
                      <a:r>
                        <a:rPr lang="en-IN" dirty="0" err="1"/>
                        <a:t>Supplier_Name</a:t>
                      </a:r>
                      <a:r>
                        <a:rPr lang="en-IN" dirty="0"/>
                        <a:t>, Email, Phone,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BOOK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PK: </a:t>
                      </a:r>
                      <a:r>
                        <a:rPr lang="en-IN" dirty="0" err="1"/>
                        <a:t>Book_ID</a:t>
                      </a:r>
                      <a:r>
                        <a:rPr lang="en-IN" dirty="0"/>
                        <a:t>; FK: </a:t>
                      </a:r>
                      <a:r>
                        <a:rPr lang="en-IN" dirty="0" err="1"/>
                        <a:t>Author_ID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Publisher_ID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Category_ID</a:t>
                      </a:r>
                      <a:r>
                        <a:rPr lang="en-IN" dirty="0"/>
                        <a:t>; </a:t>
                      </a:r>
                      <a:r>
                        <a:rPr lang="en-IN" dirty="0" err="1"/>
                        <a:t>Book_Name</a:t>
                      </a:r>
                      <a:r>
                        <a:rPr lang="en-IN" dirty="0"/>
                        <a:t>, ISBN, Quantity, </a:t>
                      </a:r>
                      <a:r>
                        <a:rPr lang="en-IN" dirty="0" err="1"/>
                        <a:t>Available_Count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501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3D1099-AE39-D712-672F-6592E564BBD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A2819-819F-25C3-C7A8-1F4585B3A2D7}"/>
              </a:ext>
            </a:extLst>
          </p:cNvPr>
          <p:cNvSpPr txBox="1"/>
          <p:nvPr/>
        </p:nvSpPr>
        <p:spPr>
          <a:xfrm>
            <a:off x="594360" y="274320"/>
            <a:ext cx="46733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 Table Design and Constraints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4B674-A0C2-BBDE-5742-CF712641C06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EF181B-7DD8-1CCD-BC8B-33266222E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09239"/>
              </p:ext>
            </p:extLst>
          </p:nvPr>
        </p:nvGraphicFramePr>
        <p:xfrm>
          <a:off x="502920" y="1325879"/>
          <a:ext cx="11155680" cy="487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Member_ID; Member_Name, Department, Email, Phone, Membership_Date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LIBRARIAN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Librarian_ID; Librarian_Name, Email, Phone, Username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ISSUE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Issue_ID; FK: Book_ID, Member_ID, Librarian_ID; Issue_Date, Due_Date, Return_Date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PK: Fine_ID; FK: Issue_ID; Fine_Amount, Payment_Status, Payment_Date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RESERVATION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PK: </a:t>
                      </a:r>
                      <a:r>
                        <a:rPr lang="en-IN" dirty="0" err="1"/>
                        <a:t>Reservation_ID</a:t>
                      </a:r>
                      <a:r>
                        <a:rPr lang="en-IN" dirty="0"/>
                        <a:t>; FK: </a:t>
                      </a:r>
                      <a:r>
                        <a:rPr lang="en-IN" dirty="0" err="1"/>
                        <a:t>Book_ID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Member_ID</a:t>
                      </a:r>
                      <a:r>
                        <a:rPr lang="en-IN" dirty="0"/>
                        <a:t>; </a:t>
                      </a:r>
                      <a:r>
                        <a:rPr lang="en-IN" dirty="0" err="1"/>
                        <a:t>Reservation_Date</a:t>
                      </a:r>
                      <a:r>
                        <a:rPr lang="en-IN" dirty="0"/>
                        <a:t>,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569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D1218B-BD36-FD9D-CB27-56D8C44BF3E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95E0B-66F5-B22A-D468-0C3827F7BD33}"/>
              </a:ext>
            </a:extLst>
          </p:cNvPr>
          <p:cNvSpPr txBox="1"/>
          <p:nvPr/>
        </p:nvSpPr>
        <p:spPr>
          <a:xfrm>
            <a:off x="594360" y="274320"/>
            <a:ext cx="42393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7</a:t>
            </a:r>
            <a:r>
              <a:rPr dirty="0"/>
              <a:t>. Normalization up to 3NF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B06BB3-1D82-17DE-C7E6-FF4961592E9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B435A-5EEB-B712-C966-79E6E6AE190B}"/>
              </a:ext>
            </a:extLst>
          </p:cNvPr>
          <p:cNvSpPr txBox="1"/>
          <p:nvPr/>
        </p:nvSpPr>
        <p:spPr>
          <a:xfrm>
            <a:off x="822960" y="1381432"/>
            <a:ext cx="106070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UNF – Unnormalized Form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Library information may contain repeated details about books, authors, publishers, members, issues, and fines in a single record.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Repeated data can lead to data redundancy and inconsistency. </a:t>
            </a:r>
          </a:p>
          <a:p>
            <a:pPr algn="just">
              <a:buNone/>
            </a:pPr>
            <a:r>
              <a:rPr lang="en-IN" b="1" dirty="0"/>
              <a:t>1NF – First Normal Form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Remove repeating groups.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Store each attribute as a single, atomic value.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Each record represents one specific entity/transaction. </a:t>
            </a:r>
          </a:p>
          <a:p>
            <a:pPr algn="just">
              <a:buNone/>
            </a:pPr>
            <a:r>
              <a:rPr lang="en-IN" b="1" dirty="0"/>
              <a:t>2NF – Second Normal Form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Remove partial dependencies.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Separate information into related tables such as BOOK, MEMBER, AUTHOR, PUBLISHER, and ISSUE.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Non-key attributes depend on the complete primary key. </a:t>
            </a:r>
          </a:p>
          <a:p>
            <a:pPr algn="just">
              <a:buNone/>
            </a:pPr>
            <a:r>
              <a:rPr lang="en-IN" b="1" dirty="0"/>
              <a:t>3NF – Third Normal Form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Remove transitive dependencies.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Store independent information in separate relations, such as CATEGORY, SUPPLIER, LIBRARIAN, and FINE.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Non-key attributes depend only on the primary key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038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06A4B6-4A8A-AB94-CBBA-D1D4EA163C1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99C86-62CC-39C0-FC40-069185B73100}"/>
              </a:ext>
            </a:extLst>
          </p:cNvPr>
          <p:cNvSpPr txBox="1"/>
          <p:nvPr/>
        </p:nvSpPr>
        <p:spPr>
          <a:xfrm>
            <a:off x="594360" y="274320"/>
            <a:ext cx="4655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8</a:t>
            </a:r>
            <a:r>
              <a:rPr dirty="0"/>
              <a:t>. SQL Implementation – DDL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59B6D-2FA3-26C1-93AF-F8605B5D136B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7FE57-13A2-DFF3-2EAE-64F67C7E7F6E}"/>
              </a:ext>
            </a:extLst>
          </p:cNvPr>
          <p:cNvSpPr txBox="1"/>
          <p:nvPr/>
        </p:nvSpPr>
        <p:spPr>
          <a:xfrm>
            <a:off x="777240" y="1110996"/>
            <a:ext cx="1060704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DDL Operations Implemented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CREATE DATABASE</a:t>
            </a:r>
            <a:r>
              <a:rPr lang="en-IN" dirty="0"/>
              <a:t> – Creates the </a:t>
            </a:r>
            <a:r>
              <a:rPr lang="en-IN" dirty="0" err="1">
                <a:latin typeface="Courier New" panose="02070309020205020404" pitchFamily="49" charset="0"/>
              </a:rPr>
              <a:t>LibraryDB</a:t>
            </a:r>
            <a:r>
              <a:rPr lang="en-IN" dirty="0"/>
              <a:t> database.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USE</a:t>
            </a:r>
            <a:r>
              <a:rPr lang="en-IN" dirty="0"/>
              <a:t> – Selects the </a:t>
            </a:r>
            <a:r>
              <a:rPr lang="en-IN" dirty="0" err="1">
                <a:latin typeface="Courier New" panose="02070309020205020404" pitchFamily="49" charset="0"/>
              </a:rPr>
              <a:t>LibraryDB</a:t>
            </a:r>
            <a:r>
              <a:rPr lang="en-IN" dirty="0"/>
              <a:t> database.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CREATE TABLE</a:t>
            </a:r>
            <a:r>
              <a:rPr lang="en-IN" dirty="0"/>
              <a:t> – Creates the 10 library tables.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PRIMARY KEY</a:t>
            </a:r>
            <a:r>
              <a:rPr lang="en-IN" dirty="0"/>
              <a:t> – Defines unique identifiers for each table.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FOREIGN KEY</a:t>
            </a:r>
            <a:r>
              <a:rPr lang="en-IN" dirty="0"/>
              <a:t> – Establishes relationships between related tables.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NOT NULL</a:t>
            </a:r>
            <a:r>
              <a:rPr lang="en-IN" dirty="0"/>
              <a:t> – Defines mandatory attributes.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UNIQUE</a:t>
            </a:r>
            <a:r>
              <a:rPr lang="en-IN" dirty="0"/>
              <a:t> – Prevents duplicate values.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CHECK</a:t>
            </a:r>
            <a:r>
              <a:rPr lang="en-IN" dirty="0"/>
              <a:t> – Validates numeric values such as quantity and fine amount.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DEFAULT</a:t>
            </a:r>
            <a:r>
              <a:rPr lang="en-IN" dirty="0"/>
              <a:t> – Provides default values for selected attributes.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ALTER TABLE</a:t>
            </a:r>
            <a:r>
              <a:rPr lang="en-IN" dirty="0"/>
              <a:t> – Modifies the </a:t>
            </a:r>
            <a:r>
              <a:rPr lang="en-IN" dirty="0">
                <a:latin typeface="Courier New" panose="02070309020205020404" pitchFamily="49" charset="0"/>
              </a:rPr>
              <a:t>Book</a:t>
            </a:r>
            <a:r>
              <a:rPr lang="en-IN" dirty="0"/>
              <a:t> table structure.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DESC</a:t>
            </a:r>
            <a:r>
              <a:rPr lang="en-IN" dirty="0"/>
              <a:t> – Displays the structure of the </a:t>
            </a:r>
            <a:r>
              <a:rPr lang="en-IN" dirty="0">
                <a:latin typeface="Courier New" panose="02070309020205020404" pitchFamily="49" charset="0"/>
              </a:rPr>
              <a:t>Book</a:t>
            </a:r>
            <a:r>
              <a:rPr lang="en-IN" dirty="0"/>
              <a:t> table.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SHOW TABLES</a:t>
            </a:r>
            <a:r>
              <a:rPr lang="en-IN" dirty="0"/>
              <a:t> – Displays all tables in the database.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21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9AA1DC-08A5-F424-788A-93CCC922D6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86BA3-96CD-3377-E097-9018CD7457E7}"/>
              </a:ext>
            </a:extLst>
          </p:cNvPr>
          <p:cNvSpPr txBox="1"/>
          <p:nvPr/>
        </p:nvSpPr>
        <p:spPr>
          <a:xfrm>
            <a:off x="594360" y="284152"/>
            <a:ext cx="46975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9.</a:t>
            </a:r>
            <a:r>
              <a:rPr dirty="0"/>
              <a:t> SQL Implementation – DML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09705-F3BA-E145-A8AE-1AE12077019B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D376B-9C08-A740-B8B3-C96CFAB4C366}"/>
              </a:ext>
            </a:extLst>
          </p:cNvPr>
          <p:cNvSpPr txBox="1"/>
          <p:nvPr/>
        </p:nvSpPr>
        <p:spPr>
          <a:xfrm>
            <a:off x="822960" y="1371600"/>
            <a:ext cx="106070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DML Operations Implemented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INSERT</a:t>
            </a:r>
            <a:r>
              <a:rPr lang="en-IN" dirty="0"/>
              <a:t> – Insert sample records into all 10 project tables.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UPDATE</a:t>
            </a:r>
            <a:r>
              <a:rPr lang="en-IN" dirty="0"/>
              <a:t> – Modify existing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DELETE</a:t>
            </a:r>
            <a:r>
              <a:rPr lang="en-IN" dirty="0"/>
              <a:t> – Delete eligible records while maintaining referential dependencies.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Insert </a:t>
            </a:r>
            <a:r>
              <a:rPr lang="en-IN" b="1" dirty="0"/>
              <a:t>parent-table records before child-table records</a:t>
            </a:r>
            <a:r>
              <a:rPr lang="en-IN" dirty="0"/>
              <a:t> to satisfy foreign-key constraints.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realistic sample data for meaningful project queries.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643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40C084-5EEB-BF09-598B-8CCA5939A80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99797-11B9-38CB-7257-2CC23764B092}"/>
              </a:ext>
            </a:extLst>
          </p:cNvPr>
          <p:cNvSpPr txBox="1"/>
          <p:nvPr/>
        </p:nvSpPr>
        <p:spPr>
          <a:xfrm>
            <a:off x="594360" y="274320"/>
            <a:ext cx="3873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10</a:t>
            </a:r>
            <a:r>
              <a:rPr dirty="0"/>
              <a:t>. DQL – Data Retrieval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AF56D5-E820-776D-B743-88426F47B13C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40E3B-25C1-A4DA-9D48-650040FB20A0}"/>
              </a:ext>
            </a:extLst>
          </p:cNvPr>
          <p:cNvSpPr txBox="1"/>
          <p:nvPr/>
        </p:nvSpPr>
        <p:spPr>
          <a:xfrm>
            <a:off x="822960" y="1371600"/>
            <a:ext cx="106070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DQL Operations Used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SELECT</a:t>
            </a:r>
            <a:r>
              <a:rPr lang="en-IN" dirty="0"/>
              <a:t> – Retrieve data from tables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WHERE</a:t>
            </a:r>
            <a:r>
              <a:rPr lang="en-IN" dirty="0"/>
              <a:t> – Filter records based on conditions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ORDER BY</a:t>
            </a:r>
            <a:r>
              <a:rPr lang="en-IN" dirty="0"/>
              <a:t> – Sort records in ascending/descending order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DISTINCT</a:t>
            </a:r>
            <a:r>
              <a:rPr lang="en-IN" dirty="0"/>
              <a:t> – Display unique values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LIKE</a:t>
            </a:r>
            <a:r>
              <a:rPr lang="en-IN" dirty="0"/>
              <a:t> – Search books using a pattern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IS NOT NULL</a:t>
            </a:r>
            <a:r>
              <a:rPr lang="en-IN" dirty="0"/>
              <a:t> – Retrieve records having available values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JOIN</a:t>
            </a:r>
            <a:r>
              <a:rPr lang="en-IN" dirty="0"/>
              <a:t> – Retrieve related information from multiple tables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319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D2BF06-4619-AFAC-ED3B-2C0FD292FE8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CFA17-43CA-CF88-8C8D-208E1A6B19D8}"/>
              </a:ext>
            </a:extLst>
          </p:cNvPr>
          <p:cNvSpPr txBox="1"/>
          <p:nvPr/>
        </p:nvSpPr>
        <p:spPr>
          <a:xfrm>
            <a:off x="594360" y="274320"/>
            <a:ext cx="37080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1</a:t>
            </a:r>
            <a:r>
              <a:rPr dirty="0"/>
              <a:t>. SQL Queries – Joins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74966-5591-61A8-34FB-BB586E99436D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72181-D107-E12D-9F21-34E069432144}"/>
              </a:ext>
            </a:extLst>
          </p:cNvPr>
          <p:cNvSpPr txBox="1"/>
          <p:nvPr/>
        </p:nvSpPr>
        <p:spPr>
          <a:xfrm>
            <a:off x="822960" y="1371600"/>
            <a:ext cx="1060704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Joins Implemented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Book + Author</a:t>
            </a:r>
            <a:r>
              <a:rPr lang="en-IN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Displays Book ID, Book Name and Author Name.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Book + Publisher</a:t>
            </a:r>
            <a:r>
              <a:rPr lang="en-IN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Displays Book ID, Book Name and Publisher Name.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Book + Category</a:t>
            </a:r>
            <a:r>
              <a:rPr lang="en-IN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Displays Book ID, Book Name and Category Name.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Issue + Book + Member</a:t>
            </a:r>
            <a:r>
              <a:rPr lang="en-IN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Displays Book Name, Member Name, Issue Date and Due Date.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Issue + Fine</a:t>
            </a:r>
            <a:r>
              <a:rPr lang="en-IN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Displays Issue ID, Book ID, Fine Amount and Payment Status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062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5287CC-D7EF-65FF-4FCC-5162B4A52F6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994A2-7386-3C67-7575-B3646D57C321}"/>
              </a:ext>
            </a:extLst>
          </p:cNvPr>
          <p:cNvSpPr txBox="1"/>
          <p:nvPr/>
        </p:nvSpPr>
        <p:spPr>
          <a:xfrm>
            <a:off x="594360" y="274320"/>
            <a:ext cx="60414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2</a:t>
            </a:r>
            <a:r>
              <a:rPr dirty="0"/>
              <a:t>. SQL Queries – Aggregate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2E2930-6E81-AC8F-2A4D-CF50D1425FF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09AB6D-61BA-A7B4-EE80-3CE8F11F4C0D}"/>
              </a:ext>
            </a:extLst>
          </p:cNvPr>
          <p:cNvSpPr txBox="1"/>
          <p:nvPr/>
        </p:nvSpPr>
        <p:spPr>
          <a:xfrm>
            <a:off x="792480" y="1342103"/>
            <a:ext cx="106070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Aggregate Functions Used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COUNT()</a:t>
            </a:r>
            <a:r>
              <a:rPr lang="en-IN" dirty="0"/>
              <a:t> – Counts the total number of books.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AVG()</a:t>
            </a:r>
            <a:r>
              <a:rPr lang="en-IN" dirty="0"/>
              <a:t> – Calculates the average book quantity.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MAX()</a:t>
            </a:r>
            <a:r>
              <a:rPr lang="en-IN" dirty="0"/>
              <a:t> – Finds the maximum book quantity.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MIN()</a:t>
            </a:r>
            <a:r>
              <a:rPr lang="en-IN" dirty="0"/>
              <a:t> – Finds the minimum book quantity.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SUM()</a:t>
            </a:r>
            <a:r>
              <a:rPr lang="en-IN" dirty="0"/>
              <a:t> – Calculates the total quantity of books.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GROUP BY</a:t>
            </a:r>
            <a:r>
              <a:rPr lang="en-IN" dirty="0"/>
              <a:t> – Groups books based on Category ID.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HAVING</a:t>
            </a:r>
            <a:r>
              <a:rPr lang="en-IN" dirty="0"/>
              <a:t> – Filters grouped results based on a condition.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3643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177E12-DA9A-75FB-109A-3A1DF54552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85D33-ACAC-B7AF-A11E-E3C30469E346}"/>
              </a:ext>
            </a:extLst>
          </p:cNvPr>
          <p:cNvSpPr txBox="1"/>
          <p:nvPr/>
        </p:nvSpPr>
        <p:spPr>
          <a:xfrm>
            <a:off x="594360" y="274320"/>
            <a:ext cx="34399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. CRUD Operations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3F2-9A84-41B6-AD7C-F5FBA6E648C2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F7B3C58-9F73-690A-2330-4BD21DA26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680715"/>
              </p:ext>
            </p:extLst>
          </p:nvPr>
        </p:nvGraphicFramePr>
        <p:xfrm>
          <a:off x="914400" y="1554480"/>
          <a:ext cx="10332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Command</a:t>
                      </a:r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 – Create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INSERT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a new book record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 – Read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book details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 – Update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UPDATE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existing book information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 – Delete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DELETE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Remove a book record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C167DB9-03B8-B974-3EF1-B4DE469866AB}"/>
              </a:ext>
            </a:extLst>
          </p:cNvPr>
          <p:cNvSpPr txBox="1"/>
          <p:nvPr/>
        </p:nvSpPr>
        <p:spPr>
          <a:xfrm>
            <a:off x="914400" y="49772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CRUD Flow</a:t>
            </a:r>
          </a:p>
          <a:p>
            <a:pPr>
              <a:buNone/>
            </a:pPr>
            <a:r>
              <a:rPr lang="en-IN" b="1" dirty="0"/>
              <a:t>CREATE → READ → UPDATE → DELETE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28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B1D349-5DF5-4398-74D7-AB9601CE89F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ACD83-3FD6-97EB-F21F-BC68BB67ACAA}"/>
              </a:ext>
            </a:extLst>
          </p:cNvPr>
          <p:cNvSpPr txBox="1"/>
          <p:nvPr/>
        </p:nvSpPr>
        <p:spPr>
          <a:xfrm>
            <a:off x="594360" y="274320"/>
            <a:ext cx="1660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. Views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46F5AA-C591-7F11-35B4-35FBB0EBFAAE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28EBB-7A87-F92F-E2CD-5AA2BE39B616}"/>
              </a:ext>
            </a:extLst>
          </p:cNvPr>
          <p:cNvSpPr txBox="1"/>
          <p:nvPr/>
        </p:nvSpPr>
        <p:spPr>
          <a:xfrm>
            <a:off x="822960" y="1371600"/>
            <a:ext cx="1060704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/>
              <a:t>View Used in Library Management System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/>
              <a:t>View Name:</a:t>
            </a:r>
            <a:r>
              <a:rPr lang="en-IN" dirty="0"/>
              <a:t> </a:t>
            </a:r>
            <a:r>
              <a:rPr lang="en-IN" dirty="0" err="1">
                <a:latin typeface="Courier New" panose="02070309020205020404" pitchFamily="49" charset="0"/>
              </a:rPr>
              <a:t>Library_Book_View</a:t>
            </a:r>
            <a:endParaRPr lang="en-IN" dirty="0"/>
          </a:p>
          <a:p>
            <a:pPr algn="just">
              <a:lnSpc>
                <a:spcPct val="150000"/>
              </a:lnSpc>
              <a:buNone/>
            </a:pPr>
            <a:r>
              <a:rPr lang="en-IN" dirty="0"/>
              <a:t>The view is created to display frequently required information about books.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/>
              <a:t>Information Included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Book ID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Book Name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ISBN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Quantity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Available Count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373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62B34D-A5B3-7357-9EBE-9DCAFF01B8E1}"/>
              </a:ext>
            </a:extLst>
          </p:cNvPr>
          <p:cNvSpPr/>
          <p:nvPr/>
        </p:nvSpPr>
        <p:spPr>
          <a:xfrm>
            <a:off x="305" y="18288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FF26D-73BE-2104-E618-742984F852D3}"/>
              </a:ext>
            </a:extLst>
          </p:cNvPr>
          <p:cNvSpPr txBox="1"/>
          <p:nvPr/>
        </p:nvSpPr>
        <p:spPr>
          <a:xfrm>
            <a:off x="594360" y="274320"/>
            <a:ext cx="50256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Data Integrity and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0952F-3CB8-8848-0A6A-5CA9B8963E71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1BB13-95A1-14EA-CEB7-1704FD623E24}"/>
              </a:ext>
            </a:extLst>
          </p:cNvPr>
          <p:cNvSpPr txBox="1"/>
          <p:nvPr/>
        </p:nvSpPr>
        <p:spPr>
          <a:xfrm>
            <a:off x="668594" y="1398282"/>
            <a:ext cx="825909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Entity Integrity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Primary keys uniquely identify each record.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Example: </a:t>
            </a:r>
            <a:r>
              <a:rPr lang="en-IN" dirty="0" err="1"/>
              <a:t>Book_ID</a:t>
            </a:r>
            <a:r>
              <a:rPr lang="en-IN" dirty="0"/>
              <a:t>, </a:t>
            </a:r>
            <a:r>
              <a:rPr lang="en-IN" dirty="0" err="1"/>
              <a:t>Member_ID</a:t>
            </a:r>
            <a:r>
              <a:rPr lang="en-IN" dirty="0"/>
              <a:t>, </a:t>
            </a:r>
            <a:r>
              <a:rPr lang="en-IN" dirty="0" err="1"/>
              <a:t>Author_ID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Referential Integrity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Foreign keys maintain relationships between related tables.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Example: </a:t>
            </a:r>
            <a:r>
              <a:rPr lang="en-IN" dirty="0" err="1"/>
              <a:t>Book.Author_ID</a:t>
            </a:r>
            <a:r>
              <a:rPr lang="en-IN" dirty="0"/>
              <a:t> references </a:t>
            </a:r>
            <a:r>
              <a:rPr lang="en-IN" dirty="0" err="1"/>
              <a:t>Author.Author_ID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Uniqueness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UNIQUE constraints prevent duplicate values.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Applied to fields such as Email, ISBN and </a:t>
            </a:r>
            <a:r>
              <a:rPr lang="en-IN" dirty="0" err="1"/>
              <a:t>User_Name</a:t>
            </a:r>
            <a:r>
              <a:rPr lang="en-IN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Mandatory Fields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NOT NULL ensures important information is provided.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Example: Book Name, Member Name and Issue details.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Domain Validation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CHECK constraints restrict invalid values.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Example: Quantity &gt;= 0, </a:t>
            </a:r>
            <a:r>
              <a:rPr lang="en-IN" dirty="0" err="1"/>
              <a:t>Available_Count</a:t>
            </a:r>
            <a:r>
              <a:rPr lang="en-IN" dirty="0"/>
              <a:t> &gt;= 0 and </a:t>
            </a:r>
            <a:r>
              <a:rPr lang="en-IN" dirty="0" err="1"/>
              <a:t>Fine_Amount</a:t>
            </a:r>
            <a:r>
              <a:rPr lang="en-IN" dirty="0"/>
              <a:t> &gt;= 0.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Default Values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DEFAULT automatically provides values when required.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Example: Membership Date, Issue Date and Reservation Status.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88033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E47A9B-F891-5DC6-7968-9DAAA03418F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34F07-B68D-614D-4D1A-98A7616A69DB}"/>
              </a:ext>
            </a:extLst>
          </p:cNvPr>
          <p:cNvSpPr txBox="1"/>
          <p:nvPr/>
        </p:nvSpPr>
        <p:spPr>
          <a:xfrm>
            <a:off x="594360" y="274320"/>
            <a:ext cx="51362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6</a:t>
            </a:r>
            <a:r>
              <a:rPr dirty="0"/>
              <a:t>. SQL Output and Screenshots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1F66D-1021-F298-5666-B67963AD23C2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12804-DE3B-011F-DB8E-811214BDC119}"/>
              </a:ext>
            </a:extLst>
          </p:cNvPr>
          <p:cNvSpPr txBox="1"/>
          <p:nvPr/>
        </p:nvSpPr>
        <p:spPr>
          <a:xfrm>
            <a:off x="678426" y="175449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Database and Table Creation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LibraryDB</a:t>
            </a:r>
            <a:r>
              <a:rPr lang="en-IN" dirty="0"/>
              <a:t> database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10 tables created successfully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DDL Execution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Table structures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Primary keys, foreign keys and constraints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DML Execution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Inserted sample records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Updated records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Deleted reservation record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A3F38-6952-3F4D-D81C-904299F82847}"/>
              </a:ext>
            </a:extLst>
          </p:cNvPr>
          <p:cNvSpPr txBox="1"/>
          <p:nvPr/>
        </p:nvSpPr>
        <p:spPr>
          <a:xfrm>
            <a:off x="6184491" y="137810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DQL Execution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Book retrieval and filtering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Sorting and searching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Issued book details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JOIN Queries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Book–Author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Book–Publisher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Book–Category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Issue–Member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Issue–Fine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Aggregate Queries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COUNT()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AVG()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MAX()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MIN()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SUM()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GROUP BY</a:t>
            </a:r>
            <a:r>
              <a:rPr lang="en-IN" dirty="0"/>
              <a:t> and </a:t>
            </a:r>
            <a:r>
              <a:rPr lang="en-IN" dirty="0">
                <a:latin typeface="+mn-lt"/>
              </a:rPr>
              <a:t>HAVING</a:t>
            </a:r>
            <a:r>
              <a:rPr lang="en-IN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CRUD Operations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Create, Read, Update and Delete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View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Library_Book_View</a:t>
            </a:r>
            <a:r>
              <a:rPr lang="en-IN" dirty="0"/>
              <a:t> output</a:t>
            </a:r>
          </a:p>
        </p:txBody>
      </p:sp>
    </p:spTree>
    <p:extLst>
      <p:ext uri="{BB962C8B-B14F-4D97-AF65-F5344CB8AC3E}">
        <p14:creationId xmlns:p14="http://schemas.microsoft.com/office/powerpoint/2010/main" val="3073328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CCEEC6-93D3-D445-6438-36C6924FE6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F2170-61DE-7CDB-2A9C-93EA7EB6E551}"/>
              </a:ext>
            </a:extLst>
          </p:cNvPr>
          <p:cNvSpPr txBox="1"/>
          <p:nvPr/>
        </p:nvSpPr>
        <p:spPr>
          <a:xfrm>
            <a:off x="594360" y="274320"/>
            <a:ext cx="60110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. Query Coverage for Demonstration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8968F-3396-049D-86ED-6C5A97F84EFE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36042-CEC2-78D2-B3B6-345471ADC708}"/>
              </a:ext>
            </a:extLst>
          </p:cNvPr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8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F8026B-34C3-7FE7-C5E8-14C677E13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41139"/>
              </p:ext>
            </p:extLst>
          </p:nvPr>
        </p:nvGraphicFramePr>
        <p:xfrm>
          <a:off x="766916" y="1347018"/>
          <a:ext cx="10340560" cy="4902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0280">
                  <a:extLst>
                    <a:ext uri="{9D8B030D-6E8A-4147-A177-3AD203B41FA5}">
                      <a16:colId xmlns:a16="http://schemas.microsoft.com/office/drawing/2014/main" val="3464080534"/>
                    </a:ext>
                  </a:extLst>
                </a:gridCol>
                <a:gridCol w="5170280">
                  <a:extLst>
                    <a:ext uri="{9D8B030D-6E8A-4147-A177-3AD203B41FA5}">
                      <a16:colId xmlns:a16="http://schemas.microsoft.com/office/drawing/2014/main" val="271866660"/>
                    </a:ext>
                  </a:extLst>
                </a:gridCol>
              </a:tblGrid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SQL Concept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Queries Covered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05944137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Basic SELECT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2+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98083117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Filtering – WHERE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2+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39999837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Sorting – ORDER BY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28845169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DISTINCT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84344323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LIKE Search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69048468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IS NOT NULL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31691041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JOIN Queries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34057259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Aggregate Functions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954906870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GROUP BY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092235103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HAVING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11256806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CRUD Operations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9427491"/>
                  </a:ext>
                </a:extLst>
              </a:tr>
              <a:tr h="377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Views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6046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9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7B1B84-5022-68B3-C160-DEE95BCA591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81DF9-B86E-5F74-77E8-34C1F76DEA77}"/>
              </a:ext>
            </a:extLst>
          </p:cNvPr>
          <p:cNvSpPr txBox="1"/>
          <p:nvPr/>
        </p:nvSpPr>
        <p:spPr>
          <a:xfrm>
            <a:off x="594360" y="274320"/>
            <a:ext cx="88079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8</a:t>
            </a:r>
            <a:r>
              <a:rPr dirty="0"/>
              <a:t>. Live Database Demonstration – Recommended Order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B7F25-C3E1-FD59-A5AE-0387849B22E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C23D3-49B1-5813-DB66-4FF9B48B864C}"/>
              </a:ext>
            </a:extLst>
          </p:cNvPr>
          <p:cNvSpPr txBox="1"/>
          <p:nvPr/>
        </p:nvSpPr>
        <p:spPr>
          <a:xfrm>
            <a:off x="11245269" y="6446520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000">
                <a:solidFill>
                  <a:srgbClr val="5F6973"/>
                </a:solidFill>
                <a:latin typeface="Aptos"/>
              </a:defRPr>
            </a:pPr>
            <a:endParaRPr lang="en-US" dirty="0"/>
          </a:p>
          <a:p>
            <a:pPr algn="just">
              <a:defRPr sz="1000">
                <a:solidFill>
                  <a:srgbClr val="5F6973"/>
                </a:solidFill>
                <a:latin typeface="Aptos"/>
              </a:defRPr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AB8B5-CA6E-70F9-DF0C-483537C5260D}"/>
              </a:ext>
            </a:extLst>
          </p:cNvPr>
          <p:cNvSpPr txBox="1"/>
          <p:nvPr/>
        </p:nvSpPr>
        <p:spPr>
          <a:xfrm>
            <a:off x="412955" y="1228368"/>
            <a:ext cx="485713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1. Open Database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Select the </a:t>
            </a:r>
            <a:r>
              <a:rPr lang="en-IN" dirty="0" err="1">
                <a:latin typeface="+mn-lt"/>
              </a:rPr>
              <a:t>LibraryDB</a:t>
            </a:r>
            <a:r>
              <a:rPr lang="en-IN" dirty="0"/>
              <a:t> database.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Show the list of tables using </a:t>
            </a:r>
            <a:r>
              <a:rPr lang="en-IN" dirty="0">
                <a:latin typeface="+mn-lt"/>
              </a:rPr>
              <a:t>SHOW TABLES;</a:t>
            </a:r>
            <a:r>
              <a:rPr lang="en-IN" dirty="0"/>
              <a:t>. </a:t>
            </a:r>
          </a:p>
          <a:p>
            <a:pPr algn="just">
              <a:buNone/>
            </a:pPr>
            <a:r>
              <a:rPr lang="en-IN" b="1" dirty="0"/>
              <a:t>2. Show Table Structure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Display the structure of important tables using </a:t>
            </a:r>
            <a:r>
              <a:rPr lang="en-IN" dirty="0">
                <a:latin typeface="+mn-lt"/>
              </a:rPr>
              <a:t>DESC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Explain primary keys, foreign keys and constraints. </a:t>
            </a:r>
          </a:p>
          <a:p>
            <a:pPr algn="just">
              <a:buNone/>
            </a:pPr>
            <a:r>
              <a:rPr lang="en-IN" b="1" dirty="0"/>
              <a:t>3. Show Sample Data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Display the records inserted into the tables.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Explain the relationships between the tables. </a:t>
            </a:r>
          </a:p>
          <a:p>
            <a:pPr algn="just">
              <a:buNone/>
            </a:pPr>
            <a:r>
              <a:rPr lang="en-IN" b="1" dirty="0"/>
              <a:t>4. Demonstrate DDL &amp; DML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Show table creation and alteration.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Demonstrate </a:t>
            </a:r>
            <a:r>
              <a:rPr lang="en-IN" dirty="0">
                <a:latin typeface="+mn-lt"/>
              </a:rPr>
              <a:t>INSERT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UPDATE</a:t>
            </a:r>
            <a:r>
              <a:rPr lang="en-IN" dirty="0"/>
              <a:t> and </a:t>
            </a:r>
            <a:r>
              <a:rPr lang="en-IN" dirty="0">
                <a:latin typeface="+mn-lt"/>
              </a:rPr>
              <a:t>DELETE</a:t>
            </a:r>
            <a:r>
              <a:rPr lang="en-IN" dirty="0"/>
              <a:t>. </a:t>
            </a:r>
          </a:p>
          <a:p>
            <a:pPr algn="just">
              <a:buNone/>
            </a:pPr>
            <a:r>
              <a:rPr lang="en-IN" b="1" dirty="0"/>
              <a:t>5. Demonstrate DQL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Execute </a:t>
            </a:r>
            <a:r>
              <a:rPr lang="en-IN" dirty="0">
                <a:latin typeface="+mn-lt"/>
              </a:rPr>
              <a:t>SELECT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WHERE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ORDER BY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DISTINCT</a:t>
            </a:r>
            <a:r>
              <a:rPr lang="en-IN" dirty="0"/>
              <a:t> and </a:t>
            </a:r>
            <a:r>
              <a:rPr lang="en-IN" dirty="0">
                <a:latin typeface="+mn-lt"/>
              </a:rPr>
              <a:t>LIKE</a:t>
            </a:r>
            <a:r>
              <a:rPr lang="en-IN" dirty="0"/>
              <a:t> queries.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82DAC-7395-7641-488A-7666B3C6C651}"/>
              </a:ext>
            </a:extLst>
          </p:cNvPr>
          <p:cNvSpPr txBox="1"/>
          <p:nvPr/>
        </p:nvSpPr>
        <p:spPr>
          <a:xfrm>
            <a:off x="6292645" y="1801811"/>
            <a:ext cx="5486400" cy="4654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6. Demonstrate JOIN Queries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Show how related information is retrieved from multiple tables. </a:t>
            </a:r>
          </a:p>
          <a:p>
            <a:pPr algn="just">
              <a:buNone/>
            </a:pPr>
            <a:r>
              <a:rPr lang="en-IN" b="1" dirty="0"/>
              <a:t>7. Demonstrate Aggregate Functions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Execute </a:t>
            </a:r>
            <a:r>
              <a:rPr lang="en-IN" dirty="0">
                <a:latin typeface="+mn-lt"/>
              </a:rPr>
              <a:t>COUNT()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AVG()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MAX()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MIN()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SUM()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GROUP BY</a:t>
            </a:r>
            <a:r>
              <a:rPr lang="en-IN" dirty="0"/>
              <a:t> and </a:t>
            </a:r>
            <a:r>
              <a:rPr lang="en-IN" dirty="0">
                <a:latin typeface="+mn-lt"/>
              </a:rPr>
              <a:t>HAVING</a:t>
            </a:r>
            <a:r>
              <a:rPr lang="en-IN" dirty="0"/>
              <a:t>. </a:t>
            </a:r>
          </a:p>
          <a:p>
            <a:pPr algn="just">
              <a:buNone/>
            </a:pPr>
            <a:r>
              <a:rPr lang="en-IN" b="1" dirty="0"/>
              <a:t>8. Demonstrate CRUD Operations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Show Create, Read, Update and Delete operations. </a:t>
            </a:r>
          </a:p>
          <a:p>
            <a:pPr algn="just">
              <a:buNone/>
            </a:pPr>
            <a:r>
              <a:rPr lang="en-IN" b="1" dirty="0"/>
              <a:t>9. Demonstrate View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Display the </a:t>
            </a:r>
            <a:r>
              <a:rPr lang="en-IN" dirty="0" err="1">
                <a:latin typeface="+mn-lt"/>
              </a:rPr>
              <a:t>Library_Book_View</a:t>
            </a:r>
            <a:r>
              <a:rPr lang="en-IN" dirty="0"/>
              <a:t> and retrieve its data. </a:t>
            </a:r>
          </a:p>
          <a:p>
            <a:pPr algn="just">
              <a:buNone/>
            </a:pPr>
            <a:r>
              <a:rPr lang="en-IN" b="1" dirty="0"/>
              <a:t>10. Conclude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Explain how the implemented database supports the requirements of the Library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172390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222A33-AF15-15EC-C39A-0661AB25C4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1D449-2854-AE78-E544-4121F188EA04}"/>
              </a:ext>
            </a:extLst>
          </p:cNvPr>
          <p:cNvSpPr txBox="1"/>
          <p:nvPr/>
        </p:nvSpPr>
        <p:spPr>
          <a:xfrm>
            <a:off x="594360" y="274320"/>
            <a:ext cx="24769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9</a:t>
            </a:r>
            <a:r>
              <a:rPr dirty="0"/>
              <a:t>. 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C5D2C-5D89-962C-AB06-177EEA23F977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12220-6678-6D47-D14E-C43DB1C4738A}"/>
              </a:ext>
            </a:extLst>
          </p:cNvPr>
          <p:cNvSpPr txBox="1"/>
          <p:nvPr/>
        </p:nvSpPr>
        <p:spPr>
          <a:xfrm>
            <a:off x="324465" y="1479853"/>
            <a:ext cx="8819535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Library Management System</a:t>
            </a:r>
            <a:r>
              <a:rPr lang="en-IN" dirty="0"/>
              <a:t> was successfully implemented using a </a:t>
            </a:r>
            <a:r>
              <a:rPr lang="en-IN" b="1" dirty="0"/>
              <a:t>relational database approach</a:t>
            </a:r>
            <a:r>
              <a:rPr lang="en-IN" dirty="0"/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database consists of </a:t>
            </a:r>
            <a:r>
              <a:rPr lang="en-IN" b="1" dirty="0"/>
              <a:t>10 related tables</a:t>
            </a:r>
            <a:r>
              <a:rPr lang="en-IN" dirty="0"/>
              <a:t> representing books, authors, publishers, categories, suppliers, members, librarians, issues, fines and reservations.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Primary keys, foreign keys and integrity constraints</a:t>
            </a:r>
            <a:r>
              <a:rPr lang="en-IN" dirty="0"/>
              <a:t> are used to maintain accurate and consistent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SQL concepts including </a:t>
            </a:r>
            <a:r>
              <a:rPr lang="en-IN" b="1" dirty="0"/>
              <a:t>DDL, DML, DQL, JOINs, aggregate functions, CRUD operations and Views</a:t>
            </a:r>
            <a:r>
              <a:rPr lang="en-IN" dirty="0"/>
              <a:t> were implemented.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database supports efficient </a:t>
            </a:r>
            <a:r>
              <a:rPr lang="en-IN" b="1" dirty="0"/>
              <a:t>data storage, retrieval and management</a:t>
            </a:r>
            <a:r>
              <a:rPr lang="en-IN" dirty="0"/>
              <a:t> of library information.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implementation provides a strong database foundation for further development of the Library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2878103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7EB05A-02E5-03A7-2816-138F86752C2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5AD9D-0E9E-6996-55C5-0AE42C4B442F}"/>
              </a:ext>
            </a:extLst>
          </p:cNvPr>
          <p:cNvSpPr txBox="1"/>
          <p:nvPr/>
        </p:nvSpPr>
        <p:spPr>
          <a:xfrm>
            <a:off x="594360" y="274320"/>
            <a:ext cx="4087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20.</a:t>
            </a:r>
            <a:r>
              <a:rPr dirty="0"/>
              <a:t> Future Enhancements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6C813-A186-F296-7640-605C29155B8D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3C2BC-A8F1-4E7A-0FB6-81724D57B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739300"/>
              </p:ext>
            </p:extLst>
          </p:nvPr>
        </p:nvGraphicFramePr>
        <p:xfrm>
          <a:off x="594360" y="1275588"/>
          <a:ext cx="10683240" cy="4916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1620">
                  <a:extLst>
                    <a:ext uri="{9D8B030D-6E8A-4147-A177-3AD203B41FA5}">
                      <a16:colId xmlns:a16="http://schemas.microsoft.com/office/drawing/2014/main" val="3212747496"/>
                    </a:ext>
                  </a:extLst>
                </a:gridCol>
                <a:gridCol w="5341620">
                  <a:extLst>
                    <a:ext uri="{9D8B030D-6E8A-4147-A177-3AD203B41FA5}">
                      <a16:colId xmlns:a16="http://schemas.microsoft.com/office/drawing/2014/main" val="2417807665"/>
                    </a:ext>
                  </a:extLst>
                </a:gridCol>
              </a:tblGrid>
              <a:tr h="393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Enhancement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Description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861081965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Online Book Reservation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Allow members to reserve books through an online interface.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379553736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Automated Notifications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Send reminders for due dates, overdue books and reservations.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154846207"/>
                  </a:ext>
                </a:extLst>
              </a:tr>
              <a:tr h="393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Fine and Payment Management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Improve tracking of fines and payment status.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200535385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Reports and Analytics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Generate reports for books, members, issues, fines and reservations.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248334945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User Authentication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Provide role-based access for librarians, members and administrators.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665844460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Backup and Security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Improve database backup, recovery and security mechanisms.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282162331"/>
                  </a:ext>
                </a:extLst>
              </a:tr>
              <a:tr h="68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Web/Mobile Application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Integrate the database with a user-friendly web or mobile application.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63317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36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BAF73-C56C-FD12-5AF8-621264C41D7C}"/>
              </a:ext>
            </a:extLst>
          </p:cNvPr>
          <p:cNvSpPr txBox="1"/>
          <p:nvPr/>
        </p:nvSpPr>
        <p:spPr>
          <a:xfrm>
            <a:off x="737419" y="3676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2800" dirty="0"/>
              <a:t>21. 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A6A26-88A6-16AF-9240-33F4805D119B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4FCDA5-C5B9-BD56-4F2A-81710B1CBAC6}"/>
              </a:ext>
            </a:extLst>
          </p:cNvPr>
          <p:cNvSpPr txBox="1"/>
          <p:nvPr/>
        </p:nvSpPr>
        <p:spPr>
          <a:xfrm>
            <a:off x="501445" y="1331118"/>
            <a:ext cx="10677831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Korth, H. F., Silberschatz, A., and Sudarshan, S., Database System Concepts, McGraw Hill.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Elmasri, R. and Navathe, S. B., Fundamentals of Database Systems, Pearson.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MySQL 8.0 Reference Manual, Oracle Corporation.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Draw.io</a:t>
            </a:r>
            <a:r>
              <a:rPr lang="en-IN" dirty="0"/>
              <a:t>, Online Diagramming ,Schema Diagram and ER Diagram Design Tool, diagrams.net.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23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EC60A6-D25E-94E9-73C3-671AA27DB0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92CDC-B3A1-A0D9-5BE2-98A3F1A6568A}"/>
              </a:ext>
            </a:extLst>
          </p:cNvPr>
          <p:cNvSpPr txBox="1"/>
          <p:nvPr/>
        </p:nvSpPr>
        <p:spPr>
          <a:xfrm>
            <a:off x="594360" y="274320"/>
            <a:ext cx="41864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2</a:t>
            </a:r>
            <a:r>
              <a:rPr lang="en-US" dirty="0"/>
              <a:t>2</a:t>
            </a:r>
            <a:r>
              <a:rPr dirty="0"/>
              <a:t>. Final Review Checklist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C9968-CD0C-1F5C-A6D5-F69B68E06588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9BE660-282B-F1FA-7215-24324AEBC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69239"/>
              </p:ext>
            </p:extLst>
          </p:nvPr>
        </p:nvGraphicFramePr>
        <p:xfrm>
          <a:off x="806244" y="1220724"/>
          <a:ext cx="10301232" cy="536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616">
                  <a:extLst>
                    <a:ext uri="{9D8B030D-6E8A-4147-A177-3AD203B41FA5}">
                      <a16:colId xmlns:a16="http://schemas.microsoft.com/office/drawing/2014/main" val="3662407349"/>
                    </a:ext>
                  </a:extLst>
                </a:gridCol>
                <a:gridCol w="5150616">
                  <a:extLst>
                    <a:ext uri="{9D8B030D-6E8A-4147-A177-3AD203B41FA5}">
                      <a16:colId xmlns:a16="http://schemas.microsoft.com/office/drawing/2014/main" val="3333659455"/>
                    </a:ext>
                  </a:extLst>
                </a:gridCol>
              </a:tblGrid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Review Area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What students must demonstrate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56268438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Database Design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Title, problem statement, objectives, ER diagram, relational schema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948124011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Implementation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LibraryDB database and all 10 project tables created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12372103"/>
                  </a:ext>
                </a:extLst>
              </a:tr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Constraints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PK, FK, NOT NULL, UNIQUE, CHECK, DEFAULT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189911"/>
                  </a:ext>
                </a:extLst>
              </a:tr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Sample Data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All tables populated with sample records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338890122"/>
                  </a:ext>
                </a:extLst>
              </a:tr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SQL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DDL, DML and DQL demonstrated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756750030"/>
                  </a:ext>
                </a:extLst>
              </a:tr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CRUD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Create, Read, Update and Delete demonstrated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112014780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Joins, aggregate functions, GROUP BY / HAVING, View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949315831"/>
                  </a:ext>
                </a:extLst>
              </a:tr>
              <a:tr h="324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Normalization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UNF → 1NF → 2NF → 3NF explained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507704168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Integrity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Primary key, foreign key, uniqueness and valid-value constraints demonstrated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910328350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Documentation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ER diagram, schema, SQL, outputs and screenshots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71236712"/>
                  </a:ext>
                </a:extLst>
              </a:tr>
              <a:tr h="56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Presentation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Working Library Management System demonstrated live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99775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11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2204</Words>
  <Application>Microsoft Office PowerPoint</Application>
  <PresentationFormat>Widescreen</PresentationFormat>
  <Paragraphs>357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Vamsi Pasumarthi</dc:creator>
  <cp:lastModifiedBy>Surya Vamsi Pasumarthi</cp:lastModifiedBy>
  <cp:revision>8</cp:revision>
  <dcterms:created xsi:type="dcterms:W3CDTF">2026-09-25T08:34:00Z</dcterms:created>
  <dcterms:modified xsi:type="dcterms:W3CDTF">2026-10-06T02:40:53Z</dcterms:modified>
</cp:coreProperties>
</file>